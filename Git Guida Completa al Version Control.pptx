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36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Cosa cambia nella pratica dopo aver usato 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-u</a:t>
            </a:r>
            <a:r>
              <a:rPr lang="it-IT" b="1" dirty="0"/>
              <a:t>:</a:t>
            </a:r>
            <a:endParaRPr lang="it-IT" dirty="0"/>
          </a:p>
          <a:p>
            <a:pPr lvl="0"/>
            <a:r>
              <a:rPr lang="it-IT" b="1" dirty="0"/>
              <a:t>Comandi abbreviati:</a:t>
            </a:r>
            <a:r>
              <a:rPr lang="it-IT" dirty="0"/>
              <a:t> </a:t>
            </a:r>
            <a:r>
              <a:rPr lang="it-IT" dirty="0" err="1"/>
              <a:t>Git</a:t>
            </a:r>
            <a:r>
              <a:rPr lang="it-IT" dirty="0"/>
              <a:t> ora sa già dove inviare o da dove scaricare le modifiche. Nei passaggi successivi non dovrai più scrivere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it-IT" dirty="0"/>
              <a:t> o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pull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it-IT" dirty="0"/>
              <a:t>: basterà digitare semplicemente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it-IT" dirty="0"/>
              <a:t> o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pull</a:t>
            </a:r>
            <a:r>
              <a:rPr lang="it-IT" dirty="0"/>
              <a:t>.</a:t>
            </a:r>
          </a:p>
          <a:p>
            <a:pPr lvl="0"/>
            <a:r>
              <a:rPr lang="it-IT" b="1" dirty="0"/>
              <a:t>Stato di avanzamento (</a:t>
            </a:r>
            <a:r>
              <a:rPr lang="it-I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status</a:t>
            </a:r>
            <a:r>
              <a:rPr lang="it-IT" b="1" dirty="0"/>
              <a:t>):</a:t>
            </a:r>
            <a:r>
              <a:rPr lang="it-IT" dirty="0"/>
              <a:t> </a:t>
            </a:r>
            <a:r>
              <a:rPr lang="it-IT" dirty="0" err="1"/>
              <a:t>Git</a:t>
            </a:r>
            <a:r>
              <a:rPr lang="it-IT" dirty="0"/>
              <a:t> sarà in grado di dirti esattamente se il tuo ramo locale è allineato, in anticipo o in ritardo rispetto a quello remoto (ad esempio: </a:t>
            </a:r>
            <a:r>
              <a:rPr lang="it-IT" i="1" dirty="0"/>
              <a:t>"Your </a:t>
            </a:r>
            <a:r>
              <a:rPr lang="it-IT" i="1" dirty="0" err="1"/>
              <a:t>branch</a:t>
            </a:r>
            <a:r>
              <a:rPr lang="it-IT" i="1" dirty="0"/>
              <a:t> </a:t>
            </a:r>
            <a:r>
              <a:rPr lang="it-IT" i="1" dirty="0" err="1"/>
              <a:t>is</a:t>
            </a:r>
            <a:r>
              <a:rPr lang="it-IT" i="1" dirty="0"/>
              <a:t> </a:t>
            </a:r>
            <a:r>
              <a:rPr lang="it-IT" i="1" dirty="0" err="1"/>
              <a:t>ahead</a:t>
            </a:r>
            <a:r>
              <a:rPr lang="it-IT" i="1" dirty="0"/>
              <a:t> of '</a:t>
            </a:r>
            <a:r>
              <a:rPr lang="it-IT" i="1" dirty="0" err="1"/>
              <a:t>origin</a:t>
            </a:r>
            <a:r>
              <a:rPr lang="it-IT" i="1" dirty="0"/>
              <a:t>/</a:t>
            </a:r>
            <a:r>
              <a:rPr lang="it-IT" i="1" dirty="0" err="1"/>
              <a:t>main</a:t>
            </a:r>
            <a:r>
              <a:rPr lang="it-IT" i="1" dirty="0"/>
              <a:t>' by 1 </a:t>
            </a:r>
            <a:r>
              <a:rPr lang="it-IT" i="1" dirty="0" err="1"/>
              <a:t>commit</a:t>
            </a:r>
            <a:r>
              <a:rPr lang="it-IT" i="1" dirty="0"/>
              <a:t>"</a:t>
            </a:r>
            <a:r>
              <a:rPr lang="it-IT" dirty="0"/>
              <a:t> oppure </a:t>
            </a:r>
            <a:r>
              <a:rPr lang="it-IT" i="1" dirty="0"/>
              <a:t>"up to date"</a:t>
            </a:r>
            <a:r>
              <a:rPr lang="it-IT" dirty="0"/>
              <a:t>).</a:t>
            </a:r>
          </a:p>
          <a:p>
            <a:r>
              <a:rPr lang="it-IT" dirty="0"/>
              <a:t>In sintesi, il flag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-u</a:t>
            </a:r>
            <a:r>
              <a:rPr lang="it-IT" dirty="0"/>
              <a:t> si usa in genere la </a:t>
            </a:r>
            <a:r>
              <a:rPr lang="it-IT" b="1" dirty="0"/>
              <a:t>prima volta</a:t>
            </a:r>
            <a:r>
              <a:rPr lang="it-IT" dirty="0"/>
              <a:t> che pubblichi un nuovo </a:t>
            </a:r>
            <a:r>
              <a:rPr lang="it-IT" dirty="0" err="1"/>
              <a:t>branch</a:t>
            </a:r>
            <a:r>
              <a:rPr lang="it-IT" dirty="0"/>
              <a:t> su GitHub o </a:t>
            </a:r>
            <a:r>
              <a:rPr lang="it-IT" dirty="0" err="1"/>
              <a:t>GitLab</a:t>
            </a:r>
            <a:r>
              <a:rPr lang="it-IT" dirty="0"/>
              <a:t> per "agganciarlo"; da quel momento in poi, quel ramo ricorderà la sua controparte remota.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834" y="1785938"/>
            <a:ext cx="1125141" cy="1285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86225" y="1214633"/>
            <a:ext cx="4486275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7254" b="1" kern="0" spc="-2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</a:t>
            </a:r>
            <a:endParaRPr lang="en-US" sz="7254" dirty="0"/>
          </a:p>
        </p:txBody>
      </p:sp>
      <p:sp>
        <p:nvSpPr>
          <p:cNvPr id="6" name="Text 2"/>
          <p:cNvSpPr/>
          <p:nvPr/>
        </p:nvSpPr>
        <p:spPr>
          <a:xfrm>
            <a:off x="4086225" y="2700533"/>
            <a:ext cx="4486275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56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sistema di controllo versione distribuito più diffuso al mondo</a:t>
            </a:r>
            <a:endParaRPr lang="en-US" sz="2256" dirty="0"/>
          </a:p>
        </p:txBody>
      </p:sp>
      <p:sp>
        <p:nvSpPr>
          <p:cNvPr id="7" name="Text 3"/>
          <p:cNvSpPr/>
          <p:nvPr/>
        </p:nvSpPr>
        <p:spPr>
          <a:xfrm>
            <a:off x="4086225" y="3694909"/>
            <a:ext cx="44862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Dalla storia alle operazioni fondamentali</a:t>
            </a:r>
            <a:endParaRPr lang="en-US" sz="126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6250"/>
          <a:stretch>
            <a:fillRect/>
          </a:stretch>
        </p:blipFill>
        <p:spPr>
          <a:xfrm>
            <a:off x="0" y="482599"/>
            <a:ext cx="9144000" cy="46584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9248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INTRODUZIONE E STORIA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nasce nel 2005 dalla necessità del kernel Linux</a:t>
            </a:r>
            <a:endParaRPr lang="en-US" sz="2755" dirty="0"/>
          </a:p>
        </p:txBody>
      </p:sp>
      <p:sp>
        <p:nvSpPr>
          <p:cNvPr id="6" name="Text 3"/>
          <p:cNvSpPr/>
          <p:nvPr/>
        </p:nvSpPr>
        <p:spPr>
          <a:xfrm>
            <a:off x="428625" y="1429273"/>
            <a:ext cx="3929063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kernel Linux è uno dei progetti open source più grandi al mondo. Dal 1991 al 2002, le modifiche venivano distribuite come patch e file archiviati. Nel 2002 il progetto adottò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BitKeeper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un DVCS proprietario.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886542"/>
            <a:ext cx="392906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2005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la rottura del rapporto tra la comunità Linux e la società che sviluppava BitKeeper spinse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Linus Torvalds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creatore di Linux — a sviluppare un nuovo strumento.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428625" y="4040036"/>
            <a:ext cx="3929063" cy="785813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428625" y="4040036"/>
            <a:ext cx="57150" cy="785813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28625" y="4040036"/>
            <a:ext cx="3929063" cy="78581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allora Git è diventato lo standard de facto per il version control nel mondo dello sviluppo software.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786313" y="1664431"/>
            <a:ext cx="1568946" cy="30539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4786313" y="1955539"/>
            <a:ext cx="1568946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4786313" y="1664431"/>
            <a:ext cx="1568946" cy="30539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OBIETTIVO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355259" y="1664431"/>
            <a:ext cx="2360116" cy="30539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355259" y="1955539"/>
            <a:ext cx="2360116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355259" y="1664431"/>
            <a:ext cx="2360116" cy="30539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DESCRIZIONE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4900613" y="2134132"/>
            <a:ext cx="6304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Velocità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355259" y="1969826"/>
            <a:ext cx="2360116" cy="55006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Operazioni quasi istantanee in locale</a:t>
            </a:r>
            <a:endParaRPr lang="en-US" sz="1159" dirty="0"/>
          </a:p>
        </p:txBody>
      </p:sp>
      <p:sp>
        <p:nvSpPr>
          <p:cNvPr id="19" name="Shape 16"/>
          <p:cNvSpPr/>
          <p:nvPr/>
        </p:nvSpPr>
        <p:spPr>
          <a:xfrm>
            <a:off x="4786313" y="2519895"/>
            <a:ext cx="3929063" cy="5572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4900613" y="2691345"/>
            <a:ext cx="12644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semplice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6355259" y="2519895"/>
            <a:ext cx="2360116" cy="55721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essenziale e robusta</a:t>
            </a:r>
            <a:endParaRPr lang="en-US" sz="1159" dirty="0"/>
          </a:p>
        </p:txBody>
      </p:sp>
      <p:sp>
        <p:nvSpPr>
          <p:cNvPr id="22" name="Text 19"/>
          <p:cNvSpPr/>
          <p:nvPr/>
        </p:nvSpPr>
        <p:spPr>
          <a:xfrm>
            <a:off x="4900613" y="3141401"/>
            <a:ext cx="106620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Sviluppo non-lineare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6355259" y="3077107"/>
            <a:ext cx="2360116" cy="55721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Supporto a migliaia di branch paralleli</a:t>
            </a:r>
            <a:endParaRPr lang="en-US" sz="1159" dirty="0"/>
          </a:p>
        </p:txBody>
      </p:sp>
      <p:sp>
        <p:nvSpPr>
          <p:cNvPr id="24" name="Shape 21"/>
          <p:cNvSpPr/>
          <p:nvPr/>
        </p:nvSpPr>
        <p:spPr>
          <a:xfrm>
            <a:off x="4786313" y="3634320"/>
            <a:ext cx="3929063" cy="5572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900613" y="3805770"/>
            <a:ext cx="8465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Distribuito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6355259" y="3634320"/>
            <a:ext cx="2360116" cy="55721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clone è un repository completo</a:t>
            </a:r>
            <a:endParaRPr lang="en-US" sz="1159" dirty="0"/>
          </a:p>
        </p:txBody>
      </p:sp>
      <p:sp>
        <p:nvSpPr>
          <p:cNvPr id="27" name="Text 24"/>
          <p:cNvSpPr/>
          <p:nvPr/>
        </p:nvSpPr>
        <p:spPr>
          <a:xfrm>
            <a:off x="4900613" y="4362982"/>
            <a:ext cx="8108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Scalabilità</a:t>
            </a:r>
            <a:endParaRPr lang="en-US" sz="1090" dirty="0"/>
          </a:p>
        </p:txBody>
      </p:sp>
      <p:sp>
        <p:nvSpPr>
          <p:cNvPr id="28" name="Text 25"/>
          <p:cNvSpPr/>
          <p:nvPr/>
        </p:nvSpPr>
        <p:spPr>
          <a:xfrm>
            <a:off x="6355259" y="4191532"/>
            <a:ext cx="2360116" cy="55721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efficiente di progetti enormi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182066" cy="514350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85750" y="1406482"/>
            <a:ext cx="2610566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DEFINIZIONE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1851180"/>
            <a:ext cx="2610566" cy="18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è un sistema di controllo versione distribuito (DVCS)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3453138" y="468502"/>
            <a:ext cx="5476549" cy="12644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3453138" y="468502"/>
            <a:ext cx="57150" cy="126444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453138" y="468502"/>
            <a:ext cx="5476549" cy="1264444"/>
          </a:xfrm>
          <a:prstGeom prst="rect">
            <a:avLst/>
          </a:prstGeom>
          <a:noFill/>
          <a:ln/>
        </p:spPr>
        <p:txBody>
          <a:bodyPr wrap="square" lIns="136017" tIns="102108" rIns="102108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i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"Git is a free and open source distributed version control system designed to handle everything from small to very large projects with speed and efficiency." — git-scm.com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3453138" y="1875820"/>
            <a:ext cx="5476549" cy="17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differenza dei sistemi centralizzati (CVS, Subversion), Git non vede i dati come una lista di modifiche (</a:t>
            </a: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delta-based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ma come una </a:t>
            </a: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serie di snapshot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dell'intero progetto. Quando si esegue un commit, Git scatta una "fotografia" dello stato dei file e memorizza un riferimento: se un file non è cambiato, non viene duplicato.</a:t>
            </a:r>
            <a:endParaRPr lang="en-US" sz="1377" dirty="0"/>
          </a:p>
        </p:txBody>
      </p:sp>
      <p:sp>
        <p:nvSpPr>
          <p:cNvPr id="10" name="Shape 7"/>
          <p:cNvSpPr/>
          <p:nvPr/>
        </p:nvSpPr>
        <p:spPr>
          <a:xfrm>
            <a:off x="3453138" y="3801675"/>
            <a:ext cx="5476549" cy="87332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453138" y="3801675"/>
            <a:ext cx="57150" cy="873323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453138" y="3801675"/>
            <a:ext cx="5476549" cy="8733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Questo approccio rende Git più simile a un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 filesystem con strumenti potenti</a:t>
            </a:r>
            <a:r>
              <a:rPr lang="en-US" sz="126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costruiti sopra, piuttosto che a un semplice VCS.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933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OPERAZIONI LOCALI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Quasi ogni operazione in Git è locale e istantanea</a:t>
            </a:r>
            <a:endParaRPr lang="en-US" sz="2755" dirty="0"/>
          </a:p>
        </p:txBody>
      </p:sp>
      <p:sp>
        <p:nvSpPr>
          <p:cNvPr id="6" name="Text 3"/>
          <p:cNvSpPr/>
          <p:nvPr/>
        </p:nvSpPr>
        <p:spPr>
          <a:xfrm>
            <a:off x="428625" y="1764841"/>
            <a:ext cx="454342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caratteristica chiave di Git è che la maggior parte delle operazioni usa </a:t>
            </a: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risorse locali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senza contattare un server.</a:t>
            </a:r>
            <a:endParaRPr lang="en-US" sz="1377" dirty="0"/>
          </a:p>
        </p:txBody>
      </p:sp>
      <p:sp>
        <p:nvSpPr>
          <p:cNvPr id="7" name="Text 4"/>
          <p:cNvSpPr/>
          <p:nvPr/>
        </p:nvSpPr>
        <p:spPr>
          <a:xfrm>
            <a:off x="428625" y="2742056"/>
            <a:ext cx="454342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la cronologia sul disco locale, molte operazioni avvengono </a:t>
            </a: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quasi istantaneamente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senza attese di rete.</a:t>
            </a:r>
            <a:endParaRPr lang="en-US" sz="1377" dirty="0"/>
          </a:p>
        </p:txBody>
      </p:sp>
      <p:sp>
        <p:nvSpPr>
          <p:cNvPr id="8" name="Shape 5"/>
          <p:cNvSpPr/>
          <p:nvPr/>
        </p:nvSpPr>
        <p:spPr>
          <a:xfrm>
            <a:off x="428625" y="3762133"/>
            <a:ext cx="4543425" cy="68580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28625" y="3762133"/>
            <a:ext cx="4543425" cy="6858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possibile lavorare e fare commit anche </a:t>
            </a:r>
            <a:r>
              <a:rPr lang="en-US" sz="1193" b="1" dirty="0">
                <a:solidFill>
                  <a:srgbClr val="FFD1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</a:t>
            </a:r>
            <a:r>
              <a:rPr lang="en-US" sz="126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sincronizzando con il remoto quando si è connessi.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5400675" y="1764841"/>
            <a:ext cx="3314700" cy="326435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400675" y="1764841"/>
            <a:ext cx="57150" cy="3264359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271" y="1879141"/>
            <a:ext cx="428625" cy="2571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0771" y="1881820"/>
            <a:ext cx="181808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Consultare la storia</a:t>
            </a:r>
            <a:endParaRPr lang="en-US" sz="1295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9271" y="2222041"/>
            <a:ext cx="428625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0771" y="2224720"/>
            <a:ext cx="191988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Confrontare versioni</a:t>
            </a:r>
            <a:endParaRPr lang="en-US" sz="1295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9271" y="2564941"/>
            <a:ext cx="42862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0771" y="2567620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e unire branch</a:t>
            </a:r>
            <a:endParaRPr lang="en-US" sz="1295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9271" y="2907841"/>
            <a:ext cx="428625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0771" y="2910520"/>
            <a:ext cx="154126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Eseguire commit</a:t>
            </a:r>
            <a:endParaRPr lang="en-US" sz="12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390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CONTROLLO INTEGRITÀ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722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331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garantisce l'integrità di ogni dato tramite checksum SHA-1</a:t>
            </a:r>
            <a:endParaRPr lang="en-US" sz="2331" dirty="0"/>
          </a:p>
        </p:txBody>
      </p:sp>
      <p:sp>
        <p:nvSpPr>
          <p:cNvPr id="6" name="Text 3"/>
          <p:cNvSpPr/>
          <p:nvPr/>
        </p:nvSpPr>
        <p:spPr>
          <a:xfrm>
            <a:off x="285750" y="1610525"/>
            <a:ext cx="4143375" cy="148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elemento in Git viene </a:t>
            </a: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sottoposto a checksum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prima di essere archiviato, e viene poi referenziato tramite quel checksum. È quindi impossibile modificare il contenuto di qualsiasi file o directory senza che Git ne sia a conoscenza.</a:t>
            </a:r>
            <a:endParaRPr lang="en-US" sz="1377" dirty="0"/>
          </a:p>
        </p:txBody>
      </p:sp>
      <p:sp>
        <p:nvSpPr>
          <p:cNvPr id="7" name="Text 4"/>
          <p:cNvSpPr/>
          <p:nvPr/>
        </p:nvSpPr>
        <p:spPr>
          <a:xfrm>
            <a:off x="285750" y="3210641"/>
            <a:ext cx="4143375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meccanismo utilizzato è l'</a:t>
            </a: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hash SHA-1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una stringa di 40 caratteri esadecimali (0–9 e a–f) calcolata in base al contenuto del file o della struttura di directory.</a:t>
            </a:r>
            <a:endParaRPr lang="en-US" sz="1377" dirty="0"/>
          </a:p>
        </p:txBody>
      </p:sp>
      <p:sp>
        <p:nvSpPr>
          <p:cNvPr id="8" name="Shape 5"/>
          <p:cNvSpPr/>
          <p:nvPr/>
        </p:nvSpPr>
        <p:spPr>
          <a:xfrm>
            <a:off x="4714875" y="1610525"/>
            <a:ext cx="4143375" cy="585788"/>
          </a:xfrm>
          <a:prstGeom prst="rect">
            <a:avLst/>
          </a:prstGeom>
          <a:solidFill>
            <a:srgbClr val="F5F5F5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714875" y="1610525"/>
            <a:ext cx="4143375" cy="5857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24b9da6552252987aa493b52f8696cd6d3b00373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4714875" y="2282037"/>
            <a:ext cx="4143375" cy="208876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714875" y="2282037"/>
            <a:ext cx="57150" cy="208876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857750" y="2424912"/>
            <a:ext cx="3857625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archivia tutto nel suo database </a:t>
            </a: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per nome file, ma per valore hash del contenuto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Questo garantisce che: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5057775" y="3170653"/>
            <a:ext cx="3657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900"/>
              </a:lnSpc>
              <a:buSzPct val="100000"/>
              <a:buChar char="▪"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 dato vada perso in transito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5057775" y="3463547"/>
            <a:ext cx="36576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900"/>
              </a:lnSpc>
              <a:buSzPct val="100000"/>
              <a:buChar char="▪"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Nessuna corruzione di file possa passare inosservata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5057775" y="3992184"/>
            <a:ext cx="3657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900"/>
              </a:lnSpc>
              <a:buSzPct val="100000"/>
              <a:buChar char="▪"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cronologia sia immutabile e verificabile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70496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85750" y="285750"/>
            <a:ext cx="857250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SICUREZZA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659011"/>
            <a:ext cx="85725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aggiunge dati, raramente li cancella: la sicurezza è intrinseca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285750" y="1670521"/>
            <a:ext cx="407193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proprietà fondamentale di Git è che quasi tutte le operazioni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aggiungono dati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 database Git. È molto difficile fare qualcosa di irreversibile o cancellare dati in modo permanente.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285750" y="2824907"/>
            <a:ext cx="407193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Dopo aver eseguito un commit, i dati sono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estremamente difficili da perdere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soprattutto se si effettua regolarmente il push verso un repository remoto.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285750" y="4007867"/>
            <a:ext cx="4071938" cy="878681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285750" y="4007867"/>
            <a:ext cx="57150" cy="87868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285750" y="4007867"/>
            <a:ext cx="4071938" cy="8786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Questo rende Git un ambiente sicuro per la sperimentazione: si può lavorare liberamente sapendo che i dati committati sono al sicuro.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800600" y="1684809"/>
            <a:ext cx="2028825" cy="1114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6815138" y="1684809"/>
            <a:ext cx="14288" cy="11144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800600" y="2784946"/>
            <a:ext cx="2028825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914900" y="1770534"/>
            <a:ext cx="1800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92B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INTEGRITÀ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914900" y="2056284"/>
            <a:ext cx="18002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Hash SHA-1 su ogni oggetto archiviato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29425" y="1684809"/>
            <a:ext cx="2028825" cy="11144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843963" y="1684809"/>
            <a:ext cx="14288" cy="11144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829425" y="2784946"/>
            <a:ext cx="2028825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943725" y="1770534"/>
            <a:ext cx="1800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92B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IMMUTABILITÀ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6943725" y="2056284"/>
            <a:ext cx="18002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cronologia dei commit non può essere alterata silenziosamente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00600" y="2784946"/>
            <a:ext cx="2028825" cy="9001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6815138" y="2784946"/>
            <a:ext cx="14288" cy="90011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4800600" y="3670771"/>
            <a:ext cx="2028825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4914900" y="2870671"/>
            <a:ext cx="1800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92B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RIDONDANZA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914900" y="3156421"/>
            <a:ext cx="18002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clone è un backup completo del repository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29425" y="2784946"/>
            <a:ext cx="2028825" cy="9001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8843963" y="2784946"/>
            <a:ext cx="14288" cy="90011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5"/>
          <p:cNvSpPr/>
          <p:nvPr/>
        </p:nvSpPr>
        <p:spPr>
          <a:xfrm>
            <a:off x="6829425" y="3670771"/>
            <a:ext cx="2028825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6943725" y="2870671"/>
            <a:ext cx="1800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92B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REVERSIBILITÀ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6943725" y="3156421"/>
            <a:ext cx="18002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Quasi ogni operazione è annullabile prima del push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8478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TRE STATI DEI FILE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file in Git risiedono in uno di tre stati: Modified, Staged, Committed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1684809"/>
            <a:ext cx="474917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Questa è la distinzione più importante da comprendere per usare Git correttamente.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285750" y="2404876"/>
            <a:ext cx="1051917" cy="33397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285750" y="2724559"/>
            <a:ext cx="1051917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285750" y="2404876"/>
            <a:ext cx="1051917" cy="33397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STATO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1337667" y="2404876"/>
            <a:ext cx="3697253" cy="33397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337667" y="2724559"/>
            <a:ext cx="3697253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337667" y="2404876"/>
            <a:ext cx="3697253" cy="33397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SIGNIFICATO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71475" y="2910297"/>
            <a:ext cx="6947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Modified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1337667" y="2731703"/>
            <a:ext cx="3697253" cy="578644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file è stato modificato ma non ancora registrato nel database locale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285750" y="3310347"/>
            <a:ext cx="4749171" cy="5857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371475" y="3496084"/>
            <a:ext cx="5304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Staged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1337667" y="3310347"/>
            <a:ext cx="3697253" cy="58578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file modificato è stato marcato per essere incluso nel prossimo commit</a:t>
            </a:r>
            <a:endParaRPr lang="en-US" sz="1159" dirty="0"/>
          </a:p>
        </p:txBody>
      </p:sp>
      <p:sp>
        <p:nvSpPr>
          <p:cNvPr id="18" name="Text 15"/>
          <p:cNvSpPr/>
          <p:nvPr/>
        </p:nvSpPr>
        <p:spPr>
          <a:xfrm>
            <a:off x="371475" y="4081872"/>
            <a:ext cx="8804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Committed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1337667" y="3896134"/>
            <a:ext cx="3697253" cy="58578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dati sono archiviati in modo sicuro nel database locale</a:t>
            </a:r>
            <a:endParaRPr lang="en-US" sz="1159" dirty="0"/>
          </a:p>
        </p:txBody>
      </p:sp>
      <p:sp>
        <p:nvSpPr>
          <p:cNvPr id="20" name="Shape 17"/>
          <p:cNvSpPr/>
          <p:nvPr/>
        </p:nvSpPr>
        <p:spPr>
          <a:xfrm>
            <a:off x="5463546" y="1684809"/>
            <a:ext cx="3394704" cy="331581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5463546" y="1684809"/>
            <a:ext cx="57150" cy="331581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583566" y="2025588"/>
            <a:ext cx="31889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FLUSSO DI LAVORO BASE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5583566" y="2345271"/>
            <a:ext cx="3188959" cy="514350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modificano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 file nella working tree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5583566" y="2945346"/>
            <a:ext cx="3188959" cy="771525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selezionano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modifiche da includere nel prossimo commit (staging)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5583566" y="3802596"/>
            <a:ext cx="3188959" cy="771525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esegue il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che salva permanentemente lo snapshot nella Git directory</a:t>
            </a:r>
            <a:endParaRPr lang="en-US" sz="1269" dirty="0"/>
          </a:p>
        </p:txBody>
      </p:sp>
      <p:sp>
        <p:nvSpPr>
          <p:cNvPr id="26" name="Shape 23"/>
          <p:cNvSpPr/>
          <p:nvPr/>
        </p:nvSpPr>
        <p:spPr>
          <a:xfrm>
            <a:off x="5583566" y="2345271"/>
            <a:ext cx="257175" cy="2571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672466" y="2345271"/>
            <a:ext cx="72136" cy="196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87" dirty="0"/>
          </a:p>
        </p:txBody>
      </p:sp>
      <p:sp>
        <p:nvSpPr>
          <p:cNvPr id="28" name="Shape 25"/>
          <p:cNvSpPr/>
          <p:nvPr/>
        </p:nvSpPr>
        <p:spPr>
          <a:xfrm>
            <a:off x="5583566" y="2945346"/>
            <a:ext cx="257175" cy="2571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5672466" y="2945346"/>
            <a:ext cx="72136" cy="196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5583566" y="3802596"/>
            <a:ext cx="257175" cy="2571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672466" y="3802596"/>
            <a:ext cx="72136" cy="196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9054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TRE SEZIONI DI UN PROGETTO GIT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progetto Git è composto da tre sezioni principali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40358"/>
            <a:ext cx="20002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28625" y="1340358"/>
            <a:ext cx="20002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 TREE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684264" y="1382328"/>
            <a:ext cx="4911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</a:t>
            </a:r>
            <a:endParaRPr lang="en-US" sz="98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530" y="1612714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30786" y="1340358"/>
            <a:ext cx="2000250" cy="542925"/>
          </a:xfrm>
          <a:prstGeom prst="rect">
            <a:avLst/>
          </a:prstGeom>
          <a:solidFill>
            <a:srgbClr val="FFD166"/>
          </a:solidFill>
          <a:ln w="27432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3430786" y="1340358"/>
            <a:ext cx="20002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STAGING AREA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686425" y="1382328"/>
            <a:ext cx="7733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commit</a:t>
            </a:r>
            <a:endParaRPr lang="en-US" sz="987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780" y="1612714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715125" y="1340358"/>
            <a:ext cx="2000250" cy="542925"/>
          </a:xfrm>
          <a:prstGeom prst="rect">
            <a:avLst/>
          </a:prstGeom>
          <a:solidFill>
            <a:srgbClr val="111111"/>
          </a:solidFill>
          <a:ln w="27432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6715125" y="1340358"/>
            <a:ext cx="20002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DIRECTORY</a:t>
            </a:r>
            <a:endParaRPr lang="en-US" sz="1193" dirty="0"/>
          </a:p>
        </p:txBody>
      </p:sp>
      <p:sp>
        <p:nvSpPr>
          <p:cNvPr id="16" name="Shape 11"/>
          <p:cNvSpPr/>
          <p:nvPr/>
        </p:nvSpPr>
        <p:spPr>
          <a:xfrm>
            <a:off x="428625" y="1969008"/>
            <a:ext cx="4143375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428625" y="2186892"/>
            <a:ext cx="4143375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428625" y="1969008"/>
            <a:ext cx="4143375" cy="232172"/>
          </a:xfrm>
          <a:prstGeom prst="rect">
            <a:avLst/>
          </a:prstGeom>
          <a:noFill/>
          <a:ln/>
        </p:spPr>
        <p:txBody>
          <a:bodyPr wrap="none" lIns="102108" tIns="68072" rIns="102108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SEZIONE</a:t>
            </a:r>
            <a:endParaRPr lang="en-US" sz="987" dirty="0"/>
          </a:p>
        </p:txBody>
      </p:sp>
      <p:sp>
        <p:nvSpPr>
          <p:cNvPr id="19" name="Shape 14"/>
          <p:cNvSpPr/>
          <p:nvPr/>
        </p:nvSpPr>
        <p:spPr>
          <a:xfrm>
            <a:off x="4572000" y="1969008"/>
            <a:ext cx="4143375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4572000" y="2186892"/>
            <a:ext cx="4143375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4572000" y="1969008"/>
            <a:ext cx="4143375" cy="232172"/>
          </a:xfrm>
          <a:prstGeom prst="rect">
            <a:avLst/>
          </a:prstGeom>
          <a:noFill/>
          <a:ln/>
        </p:spPr>
        <p:txBody>
          <a:bodyPr wrap="none" lIns="102108" tIns="68072" rIns="102108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DESCRIZIONE</a:t>
            </a:r>
            <a:endParaRPr lang="en-US" sz="987" dirty="0"/>
          </a:p>
        </p:txBody>
      </p:sp>
      <p:sp>
        <p:nvSpPr>
          <p:cNvPr id="22" name="Text 17"/>
          <p:cNvSpPr/>
          <p:nvPr/>
        </p:nvSpPr>
        <p:spPr>
          <a:xfrm>
            <a:off x="514350" y="2445853"/>
            <a:ext cx="9501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Tree</a:t>
            </a:r>
            <a:endParaRPr lang="en-US" sz="987" dirty="0"/>
          </a:p>
        </p:txBody>
      </p:sp>
      <p:sp>
        <p:nvSpPr>
          <p:cNvPr id="23" name="Text 18"/>
          <p:cNvSpPr/>
          <p:nvPr/>
        </p:nvSpPr>
        <p:spPr>
          <a:xfrm>
            <a:off x="4572000" y="2194036"/>
            <a:ext cx="4143375" cy="648295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Checkout di una versione del progetto. I file sono estratti dal database compresso e messi su disco per essere usati o modificati.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28625" y="2842332"/>
            <a:ext cx="8286750" cy="65543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514350" y="3101292"/>
            <a:ext cx="8947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Staging Area</a:t>
            </a:r>
            <a:endParaRPr lang="en-US" sz="987" dirty="0"/>
          </a:p>
        </p:txBody>
      </p:sp>
      <p:sp>
        <p:nvSpPr>
          <p:cNvPr id="26" name="Text 21"/>
          <p:cNvSpPr/>
          <p:nvPr/>
        </p:nvSpPr>
        <p:spPr>
          <a:xfrm>
            <a:off x="4572000" y="2842332"/>
            <a:ext cx="4143375" cy="655439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(detto anche "index") contenuto nella Git directory che memorizza le informazioni su cosa andrà nel prossimo commit.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14350" y="3756732"/>
            <a:ext cx="9144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Directory</a:t>
            </a:r>
            <a:endParaRPr lang="en-US" sz="987" dirty="0"/>
          </a:p>
        </p:txBody>
      </p:sp>
      <p:sp>
        <p:nvSpPr>
          <p:cNvPr id="28" name="Text 23"/>
          <p:cNvSpPr/>
          <p:nvPr/>
        </p:nvSpPr>
        <p:spPr>
          <a:xfrm>
            <a:off x="4572000" y="3497771"/>
            <a:ext cx="4143375" cy="655439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Cuore di Git: contiene i metadati e il database degli oggetti del progetto. È ciò che viene copiato quando si clona un repository.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28625" y="4246078"/>
            <a:ext cx="8286750" cy="82153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5"/>
          <p:cNvSpPr/>
          <p:nvPr/>
        </p:nvSpPr>
        <p:spPr>
          <a:xfrm>
            <a:off x="428625" y="4246078"/>
            <a:ext cx="57150" cy="82153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6"/>
          <p:cNvSpPr/>
          <p:nvPr/>
        </p:nvSpPr>
        <p:spPr>
          <a:xfrm>
            <a:off x="428625" y="4246078"/>
            <a:ext cx="8286750" cy="82153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un file è nella Git directory → è </a:t>
            </a: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committed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
Se è stato modificato e aggiunto alla staging area → è </a:t>
            </a: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staged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
Se è stato modificato ma non ancora staged → è </a:t>
            </a: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modified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616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DI GIT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è disponibile per tutti i sistemi operativi principali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428625" y="1379079"/>
            <a:ext cx="44005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può essere scaricato gratuitamente dal sito ufficiale </a:t>
            </a: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oppure tramite i package manager di sistema.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2330593"/>
            <a:ext cx="1731104" cy="2893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428625" y="2605627"/>
            <a:ext cx="1731104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28625" y="2330593"/>
            <a:ext cx="1731104" cy="289322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OPERATIVO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2159729" y="2330593"/>
            <a:ext cx="2669446" cy="2893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159729" y="2605627"/>
            <a:ext cx="2669446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2159729" y="2330593"/>
            <a:ext cx="2669446" cy="289322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 DI INSTALLAZIONE</a:t>
            </a:r>
            <a:endParaRPr lang="en-US" sz="987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698496"/>
            <a:ext cx="214313" cy="142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8675" y="2669921"/>
            <a:ext cx="6482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2159729" y="2612771"/>
            <a:ext cx="2669446" cy="31611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Installer da git-scm.com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28625" y="2928882"/>
            <a:ext cx="4400550" cy="32504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022643"/>
            <a:ext cx="214313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675" y="2994068"/>
            <a:ext cx="4929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macOS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2274029" y="2994961"/>
            <a:ext cx="13716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brew install git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645629" y="2993175"/>
            <a:ext cx="9554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Xcode Tools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347684"/>
            <a:ext cx="214313" cy="1428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8675" y="3319109"/>
            <a:ext cx="11072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Ubuntu/Debian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2274029" y="3320002"/>
            <a:ext cx="20574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sudo apt-get install git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8625" y="3578963"/>
            <a:ext cx="4400550" cy="32504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3672725"/>
            <a:ext cx="214313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8675" y="3644150"/>
            <a:ext cx="9161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Fedora/RHEL</a:t>
            </a:r>
            <a:endParaRPr lang="en-US" sz="987" dirty="0"/>
          </a:p>
        </p:txBody>
      </p:sp>
      <p:sp>
        <p:nvSpPr>
          <p:cNvPr id="27" name="Text 20"/>
          <p:cNvSpPr/>
          <p:nvPr/>
        </p:nvSpPr>
        <p:spPr>
          <a:xfrm>
            <a:off x="2274029" y="3645043"/>
            <a:ext cx="1714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sudo dnf install git</a:t>
            </a:r>
            <a:endParaRPr lang="en-US" sz="10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3997765"/>
            <a:ext cx="214313" cy="1428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8675" y="3969190"/>
            <a:ext cx="7625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 Linux</a:t>
            </a:r>
            <a:endParaRPr lang="en-US" sz="987" dirty="0"/>
          </a:p>
        </p:txBody>
      </p:sp>
      <p:sp>
        <p:nvSpPr>
          <p:cNvPr id="30" name="Text 22"/>
          <p:cNvSpPr/>
          <p:nvPr/>
        </p:nvSpPr>
        <p:spPr>
          <a:xfrm>
            <a:off x="2274029" y="3970083"/>
            <a:ext cx="1543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sudo pacman -S git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5114925" y="1379079"/>
            <a:ext cx="36004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Dopo l'installazione, è buona pratica configurare l'identità globale:</a:t>
            </a:r>
            <a:endParaRPr lang="en-US" sz="1269" dirty="0"/>
          </a:p>
        </p:txBody>
      </p:sp>
      <p:sp>
        <p:nvSpPr>
          <p:cNvPr id="32" name="Shape 24"/>
          <p:cNvSpPr/>
          <p:nvPr/>
        </p:nvSpPr>
        <p:spPr>
          <a:xfrm>
            <a:off x="5114925" y="2070571"/>
            <a:ext cx="3600450" cy="177165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5"/>
          <p:cNvSpPr/>
          <p:nvPr/>
        </p:nvSpPr>
        <p:spPr>
          <a:xfrm>
            <a:off x="5114925" y="2070571"/>
            <a:ext cx="57150" cy="177165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26"/>
          <p:cNvSpPr/>
          <p:nvPr/>
        </p:nvSpPr>
        <p:spPr>
          <a:xfrm>
            <a:off x="5114925" y="2070571"/>
            <a:ext cx="3600450" cy="1771650"/>
          </a:xfrm>
          <a:prstGeom prst="rect">
            <a:avLst/>
          </a:prstGeom>
          <a:noFill/>
          <a:ln/>
        </p:spPr>
        <p:txBody>
          <a:bodyPr wrap="square" lIns="153035" tIns="102108" rIns="153035" bIns="10210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Imposta il nome utente</a:t>
            </a: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1050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config</a:t>
            </a: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--global user.name </a:t>
            </a:r>
            <a:r>
              <a:rPr lang="en-US" sz="1050" dirty="0">
                <a:solidFill>
                  <a:srgbClr val="A8C7F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"Nome Cognome"</a:t>
            </a: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 </a:t>
            </a:r>
            <a:r>
              <a:rPr lang="en-US" sz="1050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Imposta l'indirizzo email</a:t>
            </a: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1050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config</a:t>
            </a: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--global user.email </a:t>
            </a:r>
            <a:r>
              <a:rPr lang="en-US" sz="1050" dirty="0">
                <a:solidFill>
                  <a:srgbClr val="A8C7F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"email@esempio.com"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114925" y="4013671"/>
            <a:ext cx="3600450" cy="10287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28"/>
          <p:cNvSpPr/>
          <p:nvPr/>
        </p:nvSpPr>
        <p:spPr>
          <a:xfrm>
            <a:off x="5114925" y="4013671"/>
            <a:ext cx="57150" cy="10287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29"/>
          <p:cNvSpPr/>
          <p:nvPr/>
        </p:nvSpPr>
        <p:spPr>
          <a:xfrm>
            <a:off x="5114925" y="4013671"/>
            <a:ext cx="3600450" cy="1028700"/>
          </a:xfrm>
          <a:prstGeom prst="rect">
            <a:avLst/>
          </a:prstGeom>
          <a:noFill/>
          <a:ln/>
        </p:spPr>
        <p:txBody>
          <a:bodyPr wrap="square" lIns="153035" tIns="102108" rIns="153035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 dati vengono inclusi in </a:t>
            </a:r>
            <a:r>
              <a:rPr lang="en-US" sz="109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commit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effettuato, permettendo di identificare l'autore delle modifiche nella cronologia del progetto.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22014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MANUALE DI GIT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595275"/>
            <a:ext cx="8286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documentazione di Git è completa e sempre accessibile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428625" y="1700213"/>
            <a:ext cx="3571875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dispone di un sistema di aiuto integrato accessibile direttamente da terminale, senza necessità di connessione internet.</a:t>
            </a:r>
            <a:endParaRPr lang="en-US" sz="1377" dirty="0"/>
          </a:p>
        </p:txBody>
      </p:sp>
      <p:sp>
        <p:nvSpPr>
          <p:cNvPr id="7" name="Shape 4"/>
          <p:cNvSpPr/>
          <p:nvPr/>
        </p:nvSpPr>
        <p:spPr>
          <a:xfrm>
            <a:off x="428625" y="3174616"/>
            <a:ext cx="3571875" cy="17145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686091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694" y="3388928"/>
            <a:ext cx="2807494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documentazione ufficiale completa è disponibile online su </a:t>
            </a:r>
            <a:r>
              <a:rPr lang="en-US" sz="1193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git-scm.com/docs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69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4651893"/>
            <a:ext cx="200025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119" y="4354730"/>
            <a:ext cx="2836069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libro ufficiale "Pro Git" è disponibile gratuitamente su </a:t>
            </a:r>
            <a:r>
              <a:rPr lang="en-US" sz="1193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git-scm.com/book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69" dirty="0"/>
          </a:p>
        </p:txBody>
      </p:sp>
      <p:sp>
        <p:nvSpPr>
          <p:cNvPr id="12" name="Shape 7"/>
          <p:cNvSpPr/>
          <p:nvPr/>
        </p:nvSpPr>
        <p:spPr>
          <a:xfrm>
            <a:off x="4429125" y="1700213"/>
            <a:ext cx="4286250" cy="30003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/>
          <p:nvPr/>
        </p:nvSpPr>
        <p:spPr>
          <a:xfrm>
            <a:off x="4714875" y="1914525"/>
            <a:ext cx="371475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Visualizza il manuale completo di un comando</a:t>
            </a:r>
            <a:endParaRPr lang="en-US" sz="1159" dirty="0"/>
          </a:p>
        </p:txBody>
      </p:sp>
      <p:sp>
        <p:nvSpPr>
          <p:cNvPr id="14" name="Text 9"/>
          <p:cNvSpPr/>
          <p:nvPr/>
        </p:nvSpPr>
        <p:spPr>
          <a:xfrm>
            <a:off x="4714875" y="2325291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$</a:t>
            </a:r>
            <a:r>
              <a:rPr lang="en-US" sz="1159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help &lt;comando&gt;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4714875" y="2559248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$</a:t>
            </a:r>
            <a:r>
              <a:rPr lang="en-US" sz="1159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&lt;comando&gt; --help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4714875" y="2914650"/>
            <a:ext cx="371475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Visualizza una sintesi rapida delle opzioni</a:t>
            </a:r>
            <a:endParaRPr lang="en-US" sz="1159" dirty="0"/>
          </a:p>
        </p:txBody>
      </p:sp>
      <p:sp>
        <p:nvSpPr>
          <p:cNvPr id="17" name="Text 12"/>
          <p:cNvSpPr/>
          <p:nvPr/>
        </p:nvSpPr>
        <p:spPr>
          <a:xfrm>
            <a:off x="4714875" y="3325416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$</a:t>
            </a:r>
            <a:r>
              <a:rPr lang="en-US" sz="1159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&lt;comando&gt; -h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4714875" y="3680817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Esempi pratici</a:t>
            </a:r>
            <a:endParaRPr lang="en-US" sz="1159" dirty="0"/>
          </a:p>
        </p:txBody>
      </p:sp>
      <p:sp>
        <p:nvSpPr>
          <p:cNvPr id="19" name="Text 14"/>
          <p:cNvSpPr/>
          <p:nvPr/>
        </p:nvSpPr>
        <p:spPr>
          <a:xfrm>
            <a:off x="4714875" y="3914775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$</a:t>
            </a:r>
            <a:r>
              <a:rPr lang="en-US" sz="1159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help commit</a:t>
            </a:r>
            <a:endParaRPr lang="en-US" sz="1090" dirty="0"/>
          </a:p>
        </p:txBody>
      </p:sp>
      <p:sp>
        <p:nvSpPr>
          <p:cNvPr id="20" name="Text 15"/>
          <p:cNvSpPr/>
          <p:nvPr/>
        </p:nvSpPr>
        <p:spPr>
          <a:xfrm>
            <a:off x="4714875" y="4148733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$</a:t>
            </a:r>
            <a:r>
              <a:rPr lang="en-US" sz="1159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--help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4714875" y="4382691"/>
            <a:ext cx="371475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$</a:t>
            </a:r>
            <a:r>
              <a:rPr lang="en-US" sz="1159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status -h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627659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INIT &amp; GIT CLONE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Inizializzare o clonare un repository sono i punti di partenza</a:t>
            </a:r>
            <a:endParaRPr lang="en-US" sz="222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847329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4381" y="1827684"/>
            <a:ext cx="66258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92B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init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428625" y="2238449"/>
            <a:ext cx="400050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 nuovo repository Git vuoto nella directory corrente (o in una specificata). Inizializza la sottodirectory </a:t>
            </a: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.git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tutti i file necessari.</a:t>
            </a:r>
            <a:endParaRPr lang="en-US" sz="1159" dirty="0"/>
          </a:p>
        </p:txBody>
      </p:sp>
      <p:sp>
        <p:nvSpPr>
          <p:cNvPr id="9" name="Shape 5"/>
          <p:cNvSpPr/>
          <p:nvPr/>
        </p:nvSpPr>
        <p:spPr>
          <a:xfrm>
            <a:off x="428625" y="3135688"/>
            <a:ext cx="4000500" cy="110728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428625" y="3135688"/>
            <a:ext cx="57150" cy="110728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428625" y="3135688"/>
            <a:ext cx="4000500" cy="1107281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init</a:t>
            </a:r>
            <a:r>
              <a:rPr lang="en-US" sz="942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942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Inizializza nella directory corrente</a:t>
            </a:r>
            <a:r>
              <a:rPr lang="en-US" sz="942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 </a:t>
            </a:r>
            <a:r>
              <a:rPr lang="en-US" sz="942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init nome-progetto</a:t>
            </a:r>
            <a:r>
              <a:rPr lang="en-US" sz="942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942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Crea e inizializza una nuova directory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84732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50631" y="1827684"/>
            <a:ext cx="89475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92B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clone</a:t>
            </a:r>
            <a:endParaRPr lang="en-US" sz="1602" dirty="0"/>
          </a:p>
        </p:txBody>
      </p:sp>
      <p:sp>
        <p:nvSpPr>
          <p:cNvPr id="14" name="Text 9"/>
          <p:cNvSpPr/>
          <p:nvPr/>
        </p:nvSpPr>
        <p:spPr>
          <a:xfrm>
            <a:off x="4714875" y="2238449"/>
            <a:ext cx="400050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Copia un repository esistente (locale o remoto) creando una copia locale completa con tutta la cronologia.</a:t>
            </a:r>
            <a:endParaRPr lang="en-US" sz="1159" dirty="0"/>
          </a:p>
        </p:txBody>
      </p:sp>
      <p:sp>
        <p:nvSpPr>
          <p:cNvPr id="15" name="Shape 10"/>
          <p:cNvSpPr/>
          <p:nvPr/>
        </p:nvSpPr>
        <p:spPr>
          <a:xfrm>
            <a:off x="4714875" y="2884233"/>
            <a:ext cx="4000500" cy="149304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1"/>
          <p:cNvSpPr/>
          <p:nvPr/>
        </p:nvSpPr>
        <p:spPr>
          <a:xfrm>
            <a:off x="4714875" y="2884233"/>
            <a:ext cx="57150" cy="1493044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4714875" y="2884233"/>
            <a:ext cx="4000500" cy="149304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clone https://github.com/utente/repo.git</a:t>
            </a:r>
            <a:r>
              <a:rPr lang="en-US" sz="942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 </a:t>
            </a:r>
            <a:r>
              <a:rPr lang="en-US" sz="942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clone https://github.com/utente/repo.git cartella</a:t>
            </a:r>
            <a:r>
              <a:rPr lang="en-US" sz="942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 </a:t>
            </a:r>
            <a:r>
              <a:rPr lang="en-US" sz="942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clone git@github.com:utente/repo.git</a:t>
            </a:r>
            <a:r>
              <a:rPr lang="en-US" sz="942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942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Via SSH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714875" y="4600575"/>
            <a:ext cx="40005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4714875" y="4600575"/>
            <a:ext cx="57150" cy="542925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4714875" y="4600575"/>
            <a:ext cx="4000500" cy="542925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Dopo il clone, Git configura automaticamente il remote </a:t>
            </a:r>
            <a:r>
              <a:rPr lang="en-US" sz="987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</a:t>
            </a: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puntando all'URL sorgente.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627659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ADD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add sposta le modifiche dalla working tree alla staging area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428625" y="1993776"/>
            <a:ext cx="78012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add</a:t>
            </a:r>
            <a:endParaRPr lang="en-US" sz="1377" dirty="0"/>
          </a:p>
        </p:txBody>
      </p:sp>
      <p:sp>
        <p:nvSpPr>
          <p:cNvPr id="7" name="Text 4"/>
          <p:cNvSpPr/>
          <p:nvPr/>
        </p:nvSpPr>
        <p:spPr>
          <a:xfrm>
            <a:off x="1208745" y="1991990"/>
            <a:ext cx="254138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il comando che permette di</a:t>
            </a:r>
            <a:endParaRPr lang="en-US" sz="1377" dirty="0"/>
          </a:p>
        </p:txBody>
      </p:sp>
      <p:sp>
        <p:nvSpPr>
          <p:cNvPr id="8" name="Text 5"/>
          <p:cNvSpPr/>
          <p:nvPr/>
        </p:nvSpPr>
        <p:spPr>
          <a:xfrm>
            <a:off x="3750134" y="1991990"/>
            <a:ext cx="105727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29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selezionare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4807409" y="1991990"/>
            <a:ext cx="451842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428625" y="2290939"/>
            <a:ext cx="509706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modifiche includere nel prossimo commit, aggiungendole alla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428625" y="2588102"/>
            <a:ext cx="165913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staging area (index).</a:t>
            </a:r>
            <a:endParaRPr lang="en-US" sz="1377" dirty="0"/>
          </a:p>
        </p:txBody>
      </p:sp>
      <p:sp>
        <p:nvSpPr>
          <p:cNvPr id="12" name="Shape 9"/>
          <p:cNvSpPr/>
          <p:nvPr/>
        </p:nvSpPr>
        <p:spPr>
          <a:xfrm>
            <a:off x="428625" y="3035284"/>
            <a:ext cx="5200650" cy="16609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28625" y="3035284"/>
            <a:ext cx="57150" cy="166092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71500" y="3178159"/>
            <a:ext cx="1371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file.txt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086100" y="3178159"/>
            <a:ext cx="24003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Aggiunge un file specifico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453194"/>
            <a:ext cx="1457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cartella/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143125" y="3453194"/>
            <a:ext cx="33432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Aggiunge tutti i file in una cartella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" y="3728228"/>
            <a:ext cx="1054776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*.java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2992923" y="3728228"/>
            <a:ext cx="2324354" cy="1750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Aggiunge tutti i file .java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4003263"/>
            <a:ext cx="7715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.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2228850" y="4003263"/>
            <a:ext cx="32575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Aggiunge tutte le modifiche correnti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" y="4278297"/>
            <a:ext cx="8572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-p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914650" y="4278297"/>
            <a:ext cx="25717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Modalità interattiva (patch)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15025" y="1970559"/>
            <a:ext cx="916437" cy="41969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2"/>
          <p:cNvSpPr/>
          <p:nvPr/>
        </p:nvSpPr>
        <p:spPr>
          <a:xfrm>
            <a:off x="5915025" y="2375967"/>
            <a:ext cx="916437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6029325" y="2088431"/>
            <a:ext cx="659011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OPZIONE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6831462" y="1970559"/>
            <a:ext cx="1883913" cy="41969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5"/>
          <p:cNvSpPr/>
          <p:nvPr/>
        </p:nvSpPr>
        <p:spPr>
          <a:xfrm>
            <a:off x="6831462" y="2375967"/>
            <a:ext cx="1883913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6945762" y="2084859"/>
            <a:ext cx="139838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COMPORTAMENTO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6029325" y="2527771"/>
            <a:ext cx="516136" cy="41255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6029325" y="2527771"/>
            <a:ext cx="516136" cy="412552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.</a:t>
            </a:r>
            <a:endParaRPr lang="en-US" sz="1090" dirty="0"/>
          </a:p>
        </p:txBody>
      </p:sp>
      <p:sp>
        <p:nvSpPr>
          <p:cNvPr id="32" name="Text 29"/>
          <p:cNvSpPr/>
          <p:nvPr/>
        </p:nvSpPr>
        <p:spPr>
          <a:xfrm>
            <a:off x="6945762" y="2511698"/>
            <a:ext cx="157698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Aggiunge file nuovi, modificati e cancellati</a:t>
            </a:r>
            <a:endParaRPr lang="en-US" sz="1159" dirty="0"/>
          </a:p>
        </p:txBody>
      </p:sp>
      <p:sp>
        <p:nvSpPr>
          <p:cNvPr id="33" name="Shape 30"/>
          <p:cNvSpPr/>
          <p:nvPr/>
        </p:nvSpPr>
        <p:spPr>
          <a:xfrm>
            <a:off x="5915025" y="3076054"/>
            <a:ext cx="2800350" cy="8858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Shape 31"/>
          <p:cNvSpPr/>
          <p:nvPr/>
        </p:nvSpPr>
        <p:spPr>
          <a:xfrm>
            <a:off x="6029325" y="3320728"/>
            <a:ext cx="610791" cy="41255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6029325" y="3320728"/>
            <a:ext cx="610791" cy="412552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-u</a:t>
            </a:r>
            <a:endParaRPr lang="en-US" sz="1090" dirty="0"/>
          </a:p>
        </p:txBody>
      </p:sp>
      <p:sp>
        <p:nvSpPr>
          <p:cNvPr id="36" name="Text 33"/>
          <p:cNvSpPr/>
          <p:nvPr/>
        </p:nvSpPr>
        <p:spPr>
          <a:xfrm>
            <a:off x="6945762" y="3197498"/>
            <a:ext cx="157698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Aggiunge solo file modificati e cancellati (non i nuovi)</a:t>
            </a:r>
            <a:endParaRPr lang="en-US" sz="1159" dirty="0"/>
          </a:p>
        </p:txBody>
      </p:sp>
      <p:sp>
        <p:nvSpPr>
          <p:cNvPr id="37" name="Shape 34"/>
          <p:cNvSpPr/>
          <p:nvPr/>
        </p:nvSpPr>
        <p:spPr>
          <a:xfrm>
            <a:off x="6029325" y="4320853"/>
            <a:ext cx="610791" cy="41255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029325" y="4320853"/>
            <a:ext cx="610791" cy="412552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-A</a:t>
            </a:r>
            <a:endParaRPr lang="en-US" sz="1090" dirty="0"/>
          </a:p>
        </p:txBody>
      </p:sp>
      <p:sp>
        <p:nvSpPr>
          <p:cNvPr id="39" name="Text 36"/>
          <p:cNvSpPr/>
          <p:nvPr/>
        </p:nvSpPr>
        <p:spPr>
          <a:xfrm>
            <a:off x="6945762" y="4083323"/>
            <a:ext cx="1769613" cy="375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Aggiunge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tutto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(equivalente a</a:t>
            </a:r>
            <a:endParaRPr lang="en-US" sz="1159" dirty="0"/>
          </a:p>
        </p:txBody>
      </p:sp>
      <p:sp>
        <p:nvSpPr>
          <p:cNvPr id="40" name="Shape 37"/>
          <p:cNvSpPr/>
          <p:nvPr/>
        </p:nvSpPr>
        <p:spPr>
          <a:xfrm>
            <a:off x="6945762" y="4467696"/>
            <a:ext cx="1394817" cy="18474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8"/>
          <p:cNvSpPr/>
          <p:nvPr/>
        </p:nvSpPr>
        <p:spPr>
          <a:xfrm>
            <a:off x="6945762" y="4461346"/>
            <a:ext cx="1394817" cy="412552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 .</a:t>
            </a:r>
            <a:endParaRPr lang="en-US" sz="1090" dirty="0"/>
          </a:p>
        </p:txBody>
      </p:sp>
      <p:sp>
        <p:nvSpPr>
          <p:cNvPr id="42" name="Text 39"/>
          <p:cNvSpPr/>
          <p:nvPr/>
        </p:nvSpPr>
        <p:spPr>
          <a:xfrm>
            <a:off x="6945762" y="4652442"/>
            <a:ext cx="1523405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nelle versioni recenti)</a:t>
            </a:r>
            <a:endParaRPr lang="en-US" sz="115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4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STATUS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status mostra lo stato corrente del repository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663043"/>
            <a:ext cx="1092994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28625" y="1663043"/>
            <a:ext cx="1092994" cy="19288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status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521619" y="1613036"/>
            <a:ext cx="257532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il comando più usato per avere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1917706"/>
            <a:ext cx="36379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panoramica immediata della situazione del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28625" y="2192015"/>
            <a:ext cx="38058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repository: quali file sono modificati, quali sono in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2466324"/>
            <a:ext cx="24699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staging, quali non sono tracciati.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428625" y="2892437"/>
            <a:ext cx="3929063" cy="135731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28625" y="2892437"/>
            <a:ext cx="57150" cy="1357313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71500" y="3035312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status </a:t>
            </a:r>
            <a:r>
              <a:rPr lang="en-US" sz="1050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Output dettagliato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249625"/>
            <a:ext cx="3643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status -s </a:t>
            </a:r>
            <a:r>
              <a:rPr lang="en-US" sz="1050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Output compatto (short format)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678250"/>
            <a:ext cx="3643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status -b </a:t>
            </a:r>
            <a:r>
              <a:rPr lang="en-US" sz="1050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Mostra anche il branch corrente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86313" y="1593391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INTERPRETAZIONE DELL'OUTPUT COMPATTO (-S):</a:t>
            </a:r>
            <a:endParaRPr lang="en-US" sz="1193" dirty="0"/>
          </a:p>
        </p:txBody>
      </p:sp>
      <p:sp>
        <p:nvSpPr>
          <p:cNvPr id="18" name="Shape 15"/>
          <p:cNvSpPr/>
          <p:nvPr/>
        </p:nvSpPr>
        <p:spPr>
          <a:xfrm>
            <a:off x="4786313" y="2107741"/>
            <a:ext cx="1093691" cy="346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4786313" y="2439925"/>
            <a:ext cx="1093691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4900613" y="2197038"/>
            <a:ext cx="6197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SIMBOLO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5880004" y="2107741"/>
            <a:ext cx="2835371" cy="346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5880004" y="2439925"/>
            <a:ext cx="2835371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5994304" y="2193466"/>
            <a:ext cx="86439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SIGNIFICATO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4900613" y="2552440"/>
            <a:ext cx="2071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5107781" y="2532794"/>
            <a:ext cx="5482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(destra)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94304" y="2541724"/>
            <a:ext cx="24753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modificato, non ancora in staging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86313" y="2838190"/>
            <a:ext cx="3929063" cy="39826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4900613" y="2950704"/>
            <a:ext cx="2071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8E3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5107781" y="2931058"/>
            <a:ext cx="6072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(sinistra)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94304" y="2939988"/>
            <a:ext cx="17627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modificato e in staging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900613" y="3348968"/>
            <a:ext cx="2071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8E3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5994304" y="3338252"/>
            <a:ext cx="24056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Nuovo file aggiunto alla staging area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86313" y="3634718"/>
            <a:ext cx="3929063" cy="39826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4900613" y="3747232"/>
            <a:ext cx="2071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??</a:t>
            </a:r>
            <a:endParaRPr lang="en-US" sz="1193" dirty="0"/>
          </a:p>
        </p:txBody>
      </p:sp>
      <p:sp>
        <p:nvSpPr>
          <p:cNvPr id="35" name="Text 32"/>
          <p:cNvSpPr/>
          <p:nvPr/>
        </p:nvSpPr>
        <p:spPr>
          <a:xfrm>
            <a:off x="5994304" y="3736516"/>
            <a:ext cx="19359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non tracciato (untracked)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900613" y="4145496"/>
            <a:ext cx="2071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</a:t>
            </a:r>
            <a:endParaRPr lang="en-US" sz="1193" dirty="0"/>
          </a:p>
        </p:txBody>
      </p:sp>
      <p:sp>
        <p:nvSpPr>
          <p:cNvPr id="37" name="Text 34"/>
          <p:cNvSpPr/>
          <p:nvPr/>
        </p:nvSpPr>
        <p:spPr>
          <a:xfrm>
            <a:off x="5107781" y="4125850"/>
            <a:ext cx="1607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268516" y="4145496"/>
            <a:ext cx="2071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8E3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</a:t>
            </a:r>
            <a:endParaRPr lang="en-US" sz="1193" dirty="0"/>
          </a:p>
        </p:txBody>
      </p:sp>
      <p:sp>
        <p:nvSpPr>
          <p:cNvPr id="39" name="Text 36"/>
          <p:cNvSpPr/>
          <p:nvPr/>
        </p:nvSpPr>
        <p:spPr>
          <a:xfrm>
            <a:off x="5994304" y="4134780"/>
            <a:ext cx="9322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cancellato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COMMIT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commit salva permanentemente uno snapshot nella Git directory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428625" y="1775222"/>
            <a:ext cx="1164431" cy="20895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28625" y="1775222"/>
            <a:ext cx="1164431" cy="208955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29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commit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1593056" y="1721644"/>
            <a:ext cx="292000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 le modifiche presenti nella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428625" y="2050954"/>
            <a:ext cx="361652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staging area come un nuovo snapshot nella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428625" y="2348117"/>
            <a:ext cx="420945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del repository. Ogni commit ha un hash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428625" y="2645280"/>
            <a:ext cx="125551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SHA-1 univoco.</a:t>
            </a:r>
            <a:endParaRPr lang="en-US" sz="1377" dirty="0"/>
          </a:p>
        </p:txBody>
      </p:sp>
      <p:sp>
        <p:nvSpPr>
          <p:cNvPr id="12" name="Shape 9"/>
          <p:cNvSpPr/>
          <p:nvPr/>
        </p:nvSpPr>
        <p:spPr>
          <a:xfrm>
            <a:off x="428625" y="3135325"/>
            <a:ext cx="4321969" cy="200025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28625" y="3135325"/>
            <a:ext cx="57150" cy="200025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00075" y="3306775"/>
            <a:ext cx="39790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commit -m "Messaggio"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00075" y="3581809"/>
            <a:ext cx="39790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commit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600075" y="3771119"/>
            <a:ext cx="39790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Apre l'editor per scrivere il messaggio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0075" y="4046153"/>
            <a:ext cx="39790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commit -a -m "Messaggio"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00075" y="4235462"/>
            <a:ext cx="39790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Aggiunge automaticamente i file tracciati modificati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075" y="4671231"/>
            <a:ext cx="39790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commit --amend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00075" y="4860541"/>
            <a:ext cx="39790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Modifica l'ultimo commit (messaggio o contenuto)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179219" y="1700213"/>
            <a:ext cx="3536156" cy="2000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5179219" y="1700213"/>
            <a:ext cx="3536156" cy="5715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5393531" y="1914525"/>
            <a:ext cx="310753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BUONE PRATICHE PER I MESSAGGI: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5607844" y="2525316"/>
            <a:ext cx="28932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▪"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Usare l'imperativo presente: "Aggiunge funzione X", "Corregge bug Y"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5607844" y="3113949"/>
            <a:ext cx="28932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▪"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 riga: sommario conciso (max 72 caratteri)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5607844" y="3702583"/>
            <a:ext cx="28932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▪"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 opzionale: spiegazione del </a:t>
            </a:r>
            <a:r>
              <a:rPr lang="en-US" sz="1159" i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non del </a:t>
            </a:r>
            <a:r>
              <a:rPr lang="en-US" sz="1159" i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</a:t>
            </a:r>
            <a:endParaRPr lang="en-US" sz="1159" dirty="0"/>
          </a:p>
        </p:txBody>
      </p:sp>
      <p:sp>
        <p:nvSpPr>
          <p:cNvPr id="27" name="Shape 24"/>
          <p:cNvSpPr/>
          <p:nvPr/>
        </p:nvSpPr>
        <p:spPr>
          <a:xfrm>
            <a:off x="5179219" y="4181475"/>
            <a:ext cx="3536156" cy="9286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5"/>
          <p:cNvSpPr/>
          <p:nvPr/>
        </p:nvSpPr>
        <p:spPr>
          <a:xfrm>
            <a:off x="5179219" y="4181475"/>
            <a:ext cx="57150" cy="928688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5179219" y="4181475"/>
            <a:ext cx="3536156" cy="928688"/>
          </a:xfrm>
          <a:prstGeom prst="rect">
            <a:avLst/>
          </a:prstGeom>
          <a:noFill/>
          <a:ln/>
        </p:spPr>
        <p:txBody>
          <a:bodyPr wrap="square" lIns="204089" tIns="204089" rIns="204089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buon messaggio di commit è fondamentale per la leggibilità della cronologia del progetto.</a:t>
            </a:r>
            <a:endParaRPr lang="en-US" sz="126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4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REMOTE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remote gestisce i collegamenti ai repository remoti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428625" y="1614822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remote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1457325" y="1613036"/>
            <a:ext cx="38254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permette di visualizzare, aggiungere, rimuovere e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1889131"/>
            <a:ext cx="50095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rinominare i riferimenti ai repository remoti. Il remote predefinito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2163440"/>
            <a:ext cx="77331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creato da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201936" y="2165226"/>
            <a:ext cx="9258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clone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2127777" y="2163440"/>
            <a:ext cx="8108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chiama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2938593" y="2163440"/>
            <a:ext cx="4964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3435083" y="2163440"/>
            <a:ext cx="410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428625" y="2591340"/>
            <a:ext cx="5200650" cy="183951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28625" y="2591340"/>
            <a:ext cx="57150" cy="183951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71500" y="2734215"/>
            <a:ext cx="76795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336131" y="2734215"/>
            <a:ext cx="21502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Lista i remote configurati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2993175"/>
            <a:ext cx="9983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-v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3182541" y="2993175"/>
            <a:ext cx="23038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Lista con URL (fetch e push)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500" y="3252136"/>
            <a:ext cx="207347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add origin &lt;url&gt;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3489722" y="3252136"/>
            <a:ext cx="199667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Aggiunge un nuovo remote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71500" y="3511097"/>
            <a:ext cx="253424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rename origin upstream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950494" y="3511097"/>
            <a:ext cx="15359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Rinomina un remote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71500" y="3770058"/>
            <a:ext cx="18430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remove origin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027289" y="3770058"/>
            <a:ext cx="145911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Rimuove un remote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71500" y="4029019"/>
            <a:ext cx="23806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set-url origin &lt;url&gt;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3412927" y="4029019"/>
            <a:ext cx="207347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Cambia l'URL di un remote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5915025" y="1593391"/>
            <a:ext cx="1237264" cy="4036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6"/>
          <p:cNvSpPr/>
          <p:nvPr/>
        </p:nvSpPr>
        <p:spPr>
          <a:xfrm>
            <a:off x="5915025" y="1982725"/>
            <a:ext cx="1237264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6029325" y="1711263"/>
            <a:ext cx="7090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COMANDO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7152289" y="1593391"/>
            <a:ext cx="1563086" cy="4036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7152289" y="1982725"/>
            <a:ext cx="1563086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7266589" y="1707691"/>
            <a:ext cx="111085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UTILIZZO TIPICO</a:t>
            </a:r>
            <a:endParaRPr lang="en-US" sz="987" dirty="0"/>
          </a:p>
        </p:txBody>
      </p:sp>
      <p:sp>
        <p:nvSpPr>
          <p:cNvPr id="34" name="Shape 31"/>
          <p:cNvSpPr/>
          <p:nvPr/>
        </p:nvSpPr>
        <p:spPr>
          <a:xfrm>
            <a:off x="6029325" y="2217576"/>
            <a:ext cx="900113" cy="37683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6029325" y="2217576"/>
            <a:ext cx="900113" cy="376833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add origin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7266589" y="2104169"/>
            <a:ext cx="400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Dopo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666639" y="2130958"/>
            <a:ext cx="771525" cy="17502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7650956" y="2084356"/>
            <a:ext cx="771525" cy="175022"/>
          </a:xfrm>
          <a:prstGeom prst="rect">
            <a:avLst/>
          </a:prstGeom>
          <a:noFill/>
          <a:ln/>
        </p:spPr>
        <p:txBody>
          <a:bodyPr wrap="none" lIns="51054" tIns="17018" rIns="51054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init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7266589" y="2286167"/>
            <a:ext cx="121622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per collegare al repository remoto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915025" y="2816758"/>
            <a:ext cx="2800350" cy="66079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8"/>
          <p:cNvSpPr/>
          <p:nvPr/>
        </p:nvSpPr>
        <p:spPr>
          <a:xfrm>
            <a:off x="6029325" y="2964991"/>
            <a:ext cx="900113" cy="37683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6029325" y="2964991"/>
            <a:ext cx="900113" cy="376833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-v</a:t>
            </a:r>
            <a:endParaRPr lang="en-US" sz="987" dirty="0"/>
          </a:p>
        </p:txBody>
      </p:sp>
      <p:sp>
        <p:nvSpPr>
          <p:cNvPr id="43" name="Text 40"/>
          <p:cNvSpPr/>
          <p:nvPr/>
        </p:nvSpPr>
        <p:spPr>
          <a:xfrm>
            <a:off x="7266589" y="2952490"/>
            <a:ext cx="111978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Verificare gli URL configurati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029325" y="3625788"/>
            <a:ext cx="900113" cy="5786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2"/>
          <p:cNvSpPr/>
          <p:nvPr/>
        </p:nvSpPr>
        <p:spPr>
          <a:xfrm>
            <a:off x="6029325" y="3625788"/>
            <a:ext cx="900113" cy="578644"/>
          </a:xfrm>
          <a:prstGeom prst="rect">
            <a:avLst/>
          </a:prstGeom>
          <a:noFill/>
          <a:ln/>
        </p:spPr>
        <p:txBody>
          <a:bodyPr wrap="square" lIns="51054" tIns="17018" rIns="51054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remote add upstream</a:t>
            </a:r>
            <a:endParaRPr lang="en-US" sz="987" dirty="0"/>
          </a:p>
        </p:txBody>
      </p:sp>
      <p:sp>
        <p:nvSpPr>
          <p:cNvPr id="46" name="Text 43"/>
          <p:cNvSpPr/>
          <p:nvPr/>
        </p:nvSpPr>
        <p:spPr>
          <a:xfrm>
            <a:off x="7266589" y="3616858"/>
            <a:ext cx="129659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Aggiungere il repository originale in un fork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592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4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PUSH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push invia i commit locali al repository remoto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428625" y="1376300"/>
            <a:ext cx="942975" cy="20895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28625" y="1312800"/>
            <a:ext cx="942975" cy="208955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1371600" y="1322722"/>
            <a:ext cx="261997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trasferisce i commit del branch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428625" y="1652032"/>
            <a:ext cx="336827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locale verso il branch corrispondente sul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428625" y="1949196"/>
            <a:ext cx="284321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repository remoto, aggiornando la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428625" y="2246359"/>
            <a:ext cx="173950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condivisa.</a:t>
            </a:r>
            <a:endParaRPr lang="en-US" sz="1377" dirty="0"/>
          </a:p>
        </p:txBody>
      </p:sp>
      <p:sp>
        <p:nvSpPr>
          <p:cNvPr id="12" name="Shape 9"/>
          <p:cNvSpPr/>
          <p:nvPr/>
        </p:nvSpPr>
        <p:spPr>
          <a:xfrm>
            <a:off x="428625" y="2577654"/>
            <a:ext cx="3636811" cy="2493783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28625" y="2577654"/>
            <a:ext cx="57150" cy="249378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2763391"/>
            <a:ext cx="171450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2963" y="2720529"/>
            <a:ext cx="10322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ATTENZIONE</a:t>
            </a:r>
            <a:endParaRPr lang="en-US" sz="1193" dirty="0"/>
          </a:p>
        </p:txBody>
      </p:sp>
      <p:sp>
        <p:nvSpPr>
          <p:cNvPr id="16" name="Shape 12"/>
          <p:cNvSpPr/>
          <p:nvPr/>
        </p:nvSpPr>
        <p:spPr>
          <a:xfrm>
            <a:off x="600075" y="3124150"/>
            <a:ext cx="1828800" cy="20895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685017" y="3060650"/>
            <a:ext cx="1658916" cy="271036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 --force</a:t>
            </a:r>
            <a:endParaRPr lang="en-US" sz="1295" dirty="0"/>
          </a:p>
        </p:txBody>
      </p:sp>
      <p:sp>
        <p:nvSpPr>
          <p:cNvPr id="18" name="Text 14"/>
          <p:cNvSpPr/>
          <p:nvPr/>
        </p:nvSpPr>
        <p:spPr>
          <a:xfrm>
            <a:off x="2462737" y="3070572"/>
            <a:ext cx="82688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riscrive la</a:t>
            </a:r>
            <a:endParaRPr lang="en-US" sz="1377" dirty="0"/>
          </a:p>
        </p:txBody>
      </p:sp>
      <p:sp>
        <p:nvSpPr>
          <p:cNvPr id="19" name="Text 15"/>
          <p:cNvSpPr/>
          <p:nvPr/>
        </p:nvSpPr>
        <p:spPr>
          <a:xfrm>
            <a:off x="600075" y="3399882"/>
            <a:ext cx="275748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remota e può causare</a:t>
            </a:r>
            <a:endParaRPr lang="en-US" sz="1377" dirty="0"/>
          </a:p>
        </p:txBody>
      </p:sp>
      <p:sp>
        <p:nvSpPr>
          <p:cNvPr id="20" name="Text 16"/>
          <p:cNvSpPr/>
          <p:nvPr/>
        </p:nvSpPr>
        <p:spPr>
          <a:xfrm>
            <a:off x="600075" y="3697046"/>
            <a:ext cx="2984302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problemi ai collaboratori. Usare con</a:t>
            </a:r>
            <a:endParaRPr lang="en-US" sz="1377" dirty="0"/>
          </a:p>
        </p:txBody>
      </p:sp>
      <p:sp>
        <p:nvSpPr>
          <p:cNvPr id="21" name="Text 17"/>
          <p:cNvSpPr/>
          <p:nvPr/>
        </p:nvSpPr>
        <p:spPr>
          <a:xfrm>
            <a:off x="600075" y="3994209"/>
            <a:ext cx="167878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cautela, preferendo</a:t>
            </a:r>
            <a:endParaRPr lang="en-US" sz="1377" dirty="0"/>
          </a:p>
        </p:txBody>
      </p:sp>
      <p:sp>
        <p:nvSpPr>
          <p:cNvPr id="22" name="Shape 18"/>
          <p:cNvSpPr/>
          <p:nvPr/>
        </p:nvSpPr>
        <p:spPr>
          <a:xfrm>
            <a:off x="600075" y="4047787"/>
            <a:ext cx="3146822" cy="5382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600075" y="4047787"/>
            <a:ext cx="3146822" cy="538265"/>
          </a:xfrm>
          <a:prstGeom prst="rect">
            <a:avLst/>
          </a:prstGeom>
          <a:noFill/>
          <a:ln/>
        </p:spPr>
        <p:txBody>
          <a:bodyPr wrap="square" lIns="34036" tIns="0" rIns="34036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--force-with-lease</a:t>
            </a:r>
            <a:endParaRPr lang="en-US" sz="1295" dirty="0"/>
          </a:p>
        </p:txBody>
      </p:sp>
      <p:sp>
        <p:nvSpPr>
          <p:cNvPr id="24" name="Text 20"/>
          <p:cNvSpPr/>
          <p:nvPr/>
        </p:nvSpPr>
        <p:spPr>
          <a:xfrm>
            <a:off x="600140" y="4643540"/>
            <a:ext cx="2824171" cy="2675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300"/>
              </a:lnSpc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verifica prima lo </a:t>
            </a:r>
            <a:r>
              <a:rPr lang="en-US" sz="1377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stato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77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remoto</a:t>
            </a: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77" dirty="0"/>
          </a:p>
        </p:txBody>
      </p:sp>
      <p:sp>
        <p:nvSpPr>
          <p:cNvPr id="25" name="Text 21"/>
          <p:cNvSpPr/>
          <p:nvPr/>
        </p:nvSpPr>
        <p:spPr>
          <a:xfrm>
            <a:off x="600075" y="4652829"/>
            <a:ext cx="65" cy="267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endParaRPr lang="en-US" sz="1377" dirty="0"/>
          </a:p>
        </p:txBody>
      </p:sp>
      <p:sp>
        <p:nvSpPr>
          <p:cNvPr id="26" name="Shape 22"/>
          <p:cNvSpPr/>
          <p:nvPr/>
        </p:nvSpPr>
        <p:spPr>
          <a:xfrm>
            <a:off x="4351186" y="1593391"/>
            <a:ext cx="4364189" cy="287893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3"/>
          <p:cNvSpPr/>
          <p:nvPr/>
        </p:nvSpPr>
        <p:spPr>
          <a:xfrm>
            <a:off x="4351186" y="1593391"/>
            <a:ext cx="57150" cy="287893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4"/>
          <p:cNvSpPr/>
          <p:nvPr/>
        </p:nvSpPr>
        <p:spPr>
          <a:xfrm>
            <a:off x="4494061" y="1736266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4494061" y="1909502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Push al remote/branch predefinito</a:t>
            </a:r>
            <a:endParaRPr lang="en-US" sz="942" dirty="0"/>
          </a:p>
        </p:txBody>
      </p:sp>
      <p:sp>
        <p:nvSpPr>
          <p:cNvPr id="30" name="Text 26"/>
          <p:cNvSpPr/>
          <p:nvPr/>
        </p:nvSpPr>
        <p:spPr>
          <a:xfrm>
            <a:off x="4494061" y="2168463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 origin main</a:t>
            </a:r>
            <a:endParaRPr lang="en-US" sz="885" dirty="0"/>
          </a:p>
        </p:txBody>
      </p:sp>
      <p:sp>
        <p:nvSpPr>
          <p:cNvPr id="31" name="Text 27"/>
          <p:cNvSpPr/>
          <p:nvPr/>
        </p:nvSpPr>
        <p:spPr>
          <a:xfrm>
            <a:off x="4494061" y="2341699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Push esplicito: remote "origin", branch "main"</a:t>
            </a:r>
            <a:endParaRPr lang="en-US" sz="942" dirty="0"/>
          </a:p>
        </p:txBody>
      </p:sp>
      <p:sp>
        <p:nvSpPr>
          <p:cNvPr id="32" name="Text 28"/>
          <p:cNvSpPr/>
          <p:nvPr/>
        </p:nvSpPr>
        <p:spPr>
          <a:xfrm>
            <a:off x="4494061" y="2600660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 -u origin main</a:t>
            </a:r>
            <a:endParaRPr lang="en-US" sz="885" dirty="0"/>
          </a:p>
        </p:txBody>
      </p:sp>
      <p:sp>
        <p:nvSpPr>
          <p:cNvPr id="33" name="Text 29"/>
          <p:cNvSpPr/>
          <p:nvPr/>
        </p:nvSpPr>
        <p:spPr>
          <a:xfrm>
            <a:off x="4494061" y="2773896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Push e imposta il tracking upstream</a:t>
            </a:r>
            <a:endParaRPr lang="en-US" sz="942" dirty="0"/>
          </a:p>
        </p:txBody>
      </p:sp>
      <p:sp>
        <p:nvSpPr>
          <p:cNvPr id="34" name="Text 30"/>
          <p:cNvSpPr/>
          <p:nvPr/>
        </p:nvSpPr>
        <p:spPr>
          <a:xfrm>
            <a:off x="4494061" y="3032857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 --force</a:t>
            </a:r>
            <a:endParaRPr lang="en-US" sz="885" dirty="0"/>
          </a:p>
        </p:txBody>
      </p:sp>
      <p:sp>
        <p:nvSpPr>
          <p:cNvPr id="35" name="Text 31"/>
          <p:cNvSpPr/>
          <p:nvPr/>
        </p:nvSpPr>
        <p:spPr>
          <a:xfrm>
            <a:off x="4494061" y="3206093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Forza il push (sovrascrive la cronologia remota)</a:t>
            </a:r>
            <a:endParaRPr lang="en-US" sz="942" dirty="0"/>
          </a:p>
        </p:txBody>
      </p:sp>
      <p:sp>
        <p:nvSpPr>
          <p:cNvPr id="36" name="Text 32"/>
          <p:cNvSpPr/>
          <p:nvPr/>
        </p:nvSpPr>
        <p:spPr>
          <a:xfrm>
            <a:off x="4494061" y="3465054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 origin --delete branch</a:t>
            </a:r>
            <a:endParaRPr lang="en-US" sz="885" dirty="0"/>
          </a:p>
        </p:txBody>
      </p:sp>
      <p:sp>
        <p:nvSpPr>
          <p:cNvPr id="37" name="Text 33"/>
          <p:cNvSpPr/>
          <p:nvPr/>
        </p:nvSpPr>
        <p:spPr>
          <a:xfrm>
            <a:off x="4494061" y="3638290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Elimina un branch remoto</a:t>
            </a:r>
            <a:endParaRPr lang="en-US" sz="942" dirty="0"/>
          </a:p>
        </p:txBody>
      </p:sp>
      <p:sp>
        <p:nvSpPr>
          <p:cNvPr id="38" name="Text 34"/>
          <p:cNvSpPr/>
          <p:nvPr/>
        </p:nvSpPr>
        <p:spPr>
          <a:xfrm>
            <a:off x="4494061" y="3897250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 --tags</a:t>
            </a:r>
            <a:endParaRPr lang="en-US" sz="885" dirty="0"/>
          </a:p>
        </p:txBody>
      </p:sp>
      <p:sp>
        <p:nvSpPr>
          <p:cNvPr id="39" name="Text 35"/>
          <p:cNvSpPr/>
          <p:nvPr/>
        </p:nvSpPr>
        <p:spPr>
          <a:xfrm>
            <a:off x="4494061" y="4070486"/>
            <a:ext cx="40784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Invia anche i tag locali</a:t>
            </a:r>
            <a:endParaRPr lang="en-US" sz="94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4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FETCH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fetch scarica le modifiche remote senza integrarle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428625" y="1463018"/>
            <a:ext cx="989409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28625" y="1463018"/>
            <a:ext cx="989409" cy="19288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418034" y="1413011"/>
            <a:ext cx="36504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recupera tutti i nuovi dati (commit, branch, tag)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2903934" y="2048678"/>
            <a:ext cx="1196578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28626" y="1717681"/>
            <a:ext cx="4800600" cy="194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 repository remoto e li archivia </a:t>
            </a:r>
            <a:r>
              <a:rPr lang="en-US" sz="126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localmente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6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nei</a:t>
            </a: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>
              <a:lnSpc>
                <a:spcPts val="2200"/>
              </a:lnSpc>
            </a:pPr>
            <a:r>
              <a:rPr lang="en-US" sz="140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remote-tracking branch </a:t>
            </a:r>
            <a:r>
              <a:rPr lang="en-US" sz="14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(es. </a:t>
            </a:r>
            <a:r>
              <a:rPr lang="en-US" sz="1400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origin/main </a:t>
            </a:r>
            <a:r>
              <a:rPr lang="en-US" sz="14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), senza </a:t>
            </a:r>
            <a:r>
              <a:rPr lang="en-US" sz="1400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modificare</a:t>
            </a:r>
            <a:r>
              <a:rPr lang="en-US" sz="14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il branch di </a:t>
            </a:r>
            <a:r>
              <a:rPr lang="en-US" sz="1400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lavoro</a:t>
            </a:r>
            <a:r>
              <a:rPr lang="en-US" sz="14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corrente</a:t>
            </a:r>
            <a:r>
              <a:rPr lang="en-US" sz="14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  <a:p>
            <a:pPr>
              <a:lnSpc>
                <a:spcPts val="2200"/>
              </a:lnSpc>
            </a:pPr>
            <a:endParaRPr lang="en-US" sz="1400" dirty="0"/>
          </a:p>
          <a:p>
            <a:pPr>
              <a:lnSpc>
                <a:spcPts val="2200"/>
              </a:lnSpc>
            </a:pPr>
            <a:endParaRPr lang="en-US" sz="1400" dirty="0"/>
          </a:p>
          <a:p>
            <a:pPr>
              <a:lnSpc>
                <a:spcPts val="2200"/>
              </a:lnSpc>
            </a:pPr>
            <a:r>
              <a:rPr lang="en-US" sz="14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19695" y="1971814"/>
            <a:ext cx="4479131" cy="25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789509" y="1991990"/>
            <a:ext cx="65" cy="254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2141339" y="2041996"/>
            <a:ext cx="68801" cy="251992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3337917" y="1991990"/>
            <a:ext cx="65" cy="254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428625" y="2296660"/>
            <a:ext cx="65" cy="254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269" dirty="0"/>
          </a:p>
        </p:txBody>
      </p:sp>
      <p:sp>
        <p:nvSpPr>
          <p:cNvPr id="16" name="Shape 13"/>
          <p:cNvSpPr/>
          <p:nvPr/>
        </p:nvSpPr>
        <p:spPr>
          <a:xfrm>
            <a:off x="428625" y="2637048"/>
            <a:ext cx="4800600" cy="201810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428625" y="2637048"/>
            <a:ext cx="57150" cy="2018109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71500" y="2722773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2896009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Fetch da tutti i remote configurati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500" y="3097820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 origin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3271056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Fetch dal remote "origin"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71500" y="3472867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 origin main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71500" y="3646103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Fetch di un branch specifico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71500" y="3847914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 --all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71500" y="4021150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Fetch da tutti i remote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71500" y="4222961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 --prune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71500" y="4396197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Rimuove i remote-tracking branch obsoleti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514975" y="1393366"/>
            <a:ext cx="3200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DIFFERENZA FONDAMENTALE:</a:t>
            </a:r>
            <a:endParaRPr lang="en-US" sz="1193" dirty="0"/>
          </a:p>
        </p:txBody>
      </p:sp>
      <p:sp>
        <p:nvSpPr>
          <p:cNvPr id="29" name="Shape 26"/>
          <p:cNvSpPr/>
          <p:nvPr/>
        </p:nvSpPr>
        <p:spPr>
          <a:xfrm>
            <a:off x="5514975" y="1664829"/>
            <a:ext cx="970880" cy="346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7"/>
          <p:cNvSpPr/>
          <p:nvPr/>
        </p:nvSpPr>
        <p:spPr>
          <a:xfrm>
            <a:off x="5514975" y="1997013"/>
            <a:ext cx="970880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629275" y="1754125"/>
            <a:ext cx="7090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COMANDO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6485855" y="1664829"/>
            <a:ext cx="2229520" cy="346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0"/>
          <p:cNvSpPr/>
          <p:nvPr/>
        </p:nvSpPr>
        <p:spPr>
          <a:xfrm>
            <a:off x="6485855" y="1997013"/>
            <a:ext cx="2229520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6600155" y="1750554"/>
            <a:ext cx="12662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COMPORTAMENTO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5629275" y="2130958"/>
            <a:ext cx="457200" cy="36254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5629275" y="2130958"/>
            <a:ext cx="457200" cy="362545"/>
          </a:xfrm>
          <a:prstGeom prst="rect">
            <a:avLst/>
          </a:prstGeom>
          <a:noFill/>
          <a:ln/>
        </p:spPr>
        <p:txBody>
          <a:bodyPr wrap="square" lIns="34036" tIns="0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6600155" y="2097025"/>
            <a:ext cx="1393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Scarica le modifiche,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604397" y="2287817"/>
            <a:ext cx="18359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le integra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7534598" y="2284778"/>
            <a:ext cx="11680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branch locale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514975" y="2586372"/>
            <a:ext cx="3200400" cy="76973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8"/>
          <p:cNvSpPr/>
          <p:nvPr/>
        </p:nvSpPr>
        <p:spPr>
          <a:xfrm>
            <a:off x="5629275" y="2810508"/>
            <a:ext cx="371475" cy="36254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5629275" y="2810508"/>
            <a:ext cx="371475" cy="362545"/>
          </a:xfrm>
          <a:prstGeom prst="rect">
            <a:avLst/>
          </a:prstGeom>
          <a:noFill/>
          <a:ln/>
        </p:spPr>
        <p:txBody>
          <a:bodyPr wrap="square" lIns="34036" tIns="0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</a:t>
            </a:r>
            <a:endParaRPr lang="en-US" sz="987" dirty="0"/>
          </a:p>
        </p:txBody>
      </p:sp>
      <p:sp>
        <p:nvSpPr>
          <p:cNvPr id="43" name="Text 40"/>
          <p:cNvSpPr/>
          <p:nvPr/>
        </p:nvSpPr>
        <p:spPr>
          <a:xfrm>
            <a:off x="6600155" y="2679241"/>
            <a:ext cx="5036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Scarica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103790" y="2679241"/>
            <a:ext cx="6357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integra</a:t>
            </a:r>
            <a:endParaRPr lang="en-US" sz="987" dirty="0"/>
          </a:p>
        </p:txBody>
      </p:sp>
      <p:sp>
        <p:nvSpPr>
          <p:cNvPr id="45" name="Text 42"/>
          <p:cNvSpPr/>
          <p:nvPr/>
        </p:nvSpPr>
        <p:spPr>
          <a:xfrm>
            <a:off x="6600155" y="2873908"/>
            <a:ext cx="171628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automaticamente (fetch + merge/rebase)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514975" y="3477555"/>
            <a:ext cx="3200400" cy="90725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44"/>
          <p:cNvSpPr/>
          <p:nvPr/>
        </p:nvSpPr>
        <p:spPr>
          <a:xfrm>
            <a:off x="5514975" y="3477555"/>
            <a:ext cx="57150" cy="90725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5686425" y="3631146"/>
            <a:ext cx="24610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fetch è preferibile quando si</a:t>
            </a:r>
            <a:endParaRPr lang="en-US" sz="1090" dirty="0"/>
          </a:p>
        </p:txBody>
      </p:sp>
      <p:sp>
        <p:nvSpPr>
          <p:cNvPr id="49" name="Text 46"/>
          <p:cNvSpPr/>
          <p:nvPr/>
        </p:nvSpPr>
        <p:spPr>
          <a:xfrm>
            <a:off x="5686425" y="3866890"/>
            <a:ext cx="23502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vuole esaminare le modifiche</a:t>
            </a:r>
            <a:endParaRPr lang="en-US" sz="1090" dirty="0"/>
          </a:p>
        </p:txBody>
      </p:sp>
      <p:sp>
        <p:nvSpPr>
          <p:cNvPr id="50" name="Text 47"/>
          <p:cNvSpPr/>
          <p:nvPr/>
        </p:nvSpPr>
        <p:spPr>
          <a:xfrm>
            <a:off x="5694684" y="4074667"/>
            <a:ext cx="281820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 di integrarle.</a:t>
            </a:r>
            <a:endParaRPr lang="en-US" sz="10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616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MERGE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merge integra la cronologia di due branch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428625" y="1377293"/>
            <a:ext cx="989409" cy="19288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85775" y="1315511"/>
            <a:ext cx="942975" cy="257506"/>
          </a:xfrm>
          <a:prstGeom prst="rect">
            <a:avLst/>
          </a:prstGeom>
          <a:noFill/>
          <a:ln/>
        </p:spPr>
        <p:txBody>
          <a:bodyPr wrap="squar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merge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418034" y="1327286"/>
            <a:ext cx="36915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unisce le modifiche di un branch in un altro. Git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1631956"/>
            <a:ext cx="45237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determina automaticamente la migliore strategia di merge.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428625" y="2058070"/>
            <a:ext cx="4800600" cy="16144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28625" y="2058070"/>
            <a:ext cx="57150" cy="1614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71500" y="2143795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merge feature-branch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2317031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Merge del branch specificato nel branch corrente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2547417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merge --no-ff feature-branch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2720653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Forza la creazione di un merge commit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2951038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merge --squash feature-branch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71500" y="3124274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Comprime tutti i commit in uno solo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3354660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merge --abort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3527896"/>
            <a:ext cx="4514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Annulla un merge in corso (in caso di conflitti)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5514975" y="1307641"/>
            <a:ext cx="1001799" cy="4036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5514975" y="1696975"/>
            <a:ext cx="1001799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629275" y="1425513"/>
            <a:ext cx="3232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6516774" y="1307641"/>
            <a:ext cx="2198601" cy="4036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1"/>
          <p:cNvSpPr/>
          <p:nvPr/>
        </p:nvSpPr>
        <p:spPr>
          <a:xfrm>
            <a:off x="6516774" y="1696975"/>
            <a:ext cx="2198601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6631074" y="1421941"/>
            <a:ext cx="90189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DESCRIZIONE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629275" y="1915753"/>
            <a:ext cx="5715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Fast-forward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6631074" y="1818419"/>
            <a:ext cx="173414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branch corrente viene semplicemente avanzato (nessun commit di merge)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14975" y="2523865"/>
            <a:ext cx="3200400" cy="82688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5629275" y="2742642"/>
            <a:ext cx="74473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Three-way merge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6631074" y="2645308"/>
            <a:ext cx="1746647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crea un nuovo "merge commit" che unisce le due cronologie divergenti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29275" y="3666865"/>
            <a:ext cx="6304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Conflitto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6631074" y="3472197"/>
            <a:ext cx="1902023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Modifiche incompatibili sullo stesso file: richiede risoluzione manuale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514975" y="4299086"/>
            <a:ext cx="3200400" cy="80903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Shape 31"/>
          <p:cNvSpPr/>
          <p:nvPr/>
        </p:nvSpPr>
        <p:spPr>
          <a:xfrm>
            <a:off x="5514975" y="4299086"/>
            <a:ext cx="57150" cy="809030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5657850" y="4450891"/>
            <a:ext cx="25217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caso di conflitto, Git marca i file con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57850" y="4665204"/>
            <a:ext cx="6625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indicatori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320433" y="4706280"/>
            <a:ext cx="657225" cy="1607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320433" y="4706280"/>
            <a:ext cx="657225" cy="16073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&lt;&lt;&lt;&lt;&lt;&lt;&lt;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6977658" y="4665204"/>
            <a:ext cx="750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052667" y="4706280"/>
            <a:ext cx="657225" cy="1607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8"/>
          <p:cNvSpPr/>
          <p:nvPr/>
        </p:nvSpPr>
        <p:spPr>
          <a:xfrm>
            <a:off x="7052667" y="4706280"/>
            <a:ext cx="657225" cy="16073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=======</a:t>
            </a:r>
            <a:endParaRPr lang="en-US" sz="987" dirty="0"/>
          </a:p>
        </p:txBody>
      </p:sp>
      <p:sp>
        <p:nvSpPr>
          <p:cNvPr id="42" name="Text 39"/>
          <p:cNvSpPr/>
          <p:nvPr/>
        </p:nvSpPr>
        <p:spPr>
          <a:xfrm>
            <a:off x="7709892" y="4665204"/>
            <a:ext cx="750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784902" y="4706280"/>
            <a:ext cx="657225" cy="1607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7784902" y="4706280"/>
            <a:ext cx="657225" cy="16073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&gt;&gt;&gt;&gt;&gt;&gt;&gt;</a:t>
            </a:r>
            <a:endParaRPr lang="en-US" sz="987" dirty="0"/>
          </a:p>
        </p:txBody>
      </p:sp>
      <p:sp>
        <p:nvSpPr>
          <p:cNvPr id="45" name="Text 42"/>
          <p:cNvSpPr/>
          <p:nvPr/>
        </p:nvSpPr>
        <p:spPr>
          <a:xfrm>
            <a:off x="5657850" y="4902733"/>
            <a:ext cx="23431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guidare la risoluzione manuale.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4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85750" y="357188"/>
            <a:ext cx="857250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PULL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30448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pull aggiorna il branch locale con le modifiche remote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285750" y="1520168"/>
            <a:ext cx="885825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285750" y="1520168"/>
            <a:ext cx="885825" cy="19288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171575" y="1470161"/>
            <a:ext cx="16716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la combinazione di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2843213" y="1520168"/>
            <a:ext cx="989409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2843213" y="1520168"/>
            <a:ext cx="989409" cy="19288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832622" y="1470161"/>
            <a:ext cx="8447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seguito da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285750" y="1824837"/>
            <a:ext cx="989409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285750" y="1824837"/>
            <a:ext cx="989409" cy="19288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merge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275159" y="1774831"/>
            <a:ext cx="2357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(o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1510903" y="1824837"/>
            <a:ext cx="1092994" cy="19288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510903" y="1824837"/>
            <a:ext cx="1092994" cy="19288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rebase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2603897" y="1774831"/>
            <a:ext cx="192702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): scarica le modifiche dal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285750" y="2079501"/>
            <a:ext cx="35754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remote e le integra nel branch locale corrente.</a:t>
            </a:r>
            <a:endParaRPr lang="en-US" sz="1269" dirty="0"/>
          </a:p>
        </p:txBody>
      </p:sp>
      <p:sp>
        <p:nvSpPr>
          <p:cNvPr id="19" name="Shape 16"/>
          <p:cNvSpPr/>
          <p:nvPr/>
        </p:nvSpPr>
        <p:spPr>
          <a:xfrm>
            <a:off x="285750" y="2419890"/>
            <a:ext cx="4557713" cy="16430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285750" y="2419890"/>
            <a:ext cx="57150" cy="1643063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371475" y="2505615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71475" y="2678850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Pull dal remote/branch di tracking configurato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71475" y="2880661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 origin main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71475" y="3053897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Pull esplicito da origin/main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371475" y="3255708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 --rebase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371475" y="3428944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Usa rebase invece di merge per integrare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371475" y="3630755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 --no-commit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71475" y="3803991"/>
            <a:ext cx="43862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Esegue il merge ma non crea automaticamente il commit</a:t>
            </a:r>
            <a:endParaRPr lang="en-US" sz="942" dirty="0"/>
          </a:p>
        </p:txBody>
      </p:sp>
      <p:sp>
        <p:nvSpPr>
          <p:cNvPr id="29" name="Shape 26"/>
          <p:cNvSpPr/>
          <p:nvPr/>
        </p:nvSpPr>
        <p:spPr>
          <a:xfrm>
            <a:off x="5129213" y="1450516"/>
            <a:ext cx="956900" cy="2893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7"/>
          <p:cNvSpPr/>
          <p:nvPr/>
        </p:nvSpPr>
        <p:spPr>
          <a:xfrm>
            <a:off x="5129213" y="1725550"/>
            <a:ext cx="956900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186363" y="1511238"/>
            <a:ext cx="7715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STRATEGIA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6086112" y="1450516"/>
            <a:ext cx="1021891" cy="2893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0"/>
          <p:cNvSpPr/>
          <p:nvPr/>
        </p:nvSpPr>
        <p:spPr>
          <a:xfrm>
            <a:off x="6086112" y="1725550"/>
            <a:ext cx="1021891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6143262" y="1511238"/>
            <a:ext cx="7090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COMANDO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7108003" y="1450516"/>
            <a:ext cx="1750247" cy="2893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3"/>
          <p:cNvSpPr/>
          <p:nvPr/>
        </p:nvSpPr>
        <p:spPr>
          <a:xfrm>
            <a:off x="7108003" y="1725550"/>
            <a:ext cx="1750247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7165153" y="1507666"/>
            <a:ext cx="73759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RISULTATO</a:t>
            </a:r>
            <a:endParaRPr lang="en-US" sz="987" dirty="0"/>
          </a:p>
        </p:txBody>
      </p:sp>
      <p:sp>
        <p:nvSpPr>
          <p:cNvPr id="38" name="Text 35"/>
          <p:cNvSpPr/>
          <p:nvPr/>
        </p:nvSpPr>
        <p:spPr>
          <a:xfrm>
            <a:off x="5186363" y="1887178"/>
            <a:ext cx="4464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Merge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5186363" y="2081845"/>
            <a:ext cx="5554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(default)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143262" y="2022016"/>
            <a:ext cx="6858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</a:t>
            </a:r>
            <a:endParaRPr lang="en-US" sz="987" dirty="0"/>
          </a:p>
        </p:txBody>
      </p:sp>
      <p:sp>
        <p:nvSpPr>
          <p:cNvPr id="41" name="Text 38"/>
          <p:cNvSpPr/>
          <p:nvPr/>
        </p:nvSpPr>
        <p:spPr>
          <a:xfrm>
            <a:off x="7165153" y="1789844"/>
            <a:ext cx="1528763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 merge commit se le cronologie divergono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129213" y="2438140"/>
            <a:ext cx="3729038" cy="71258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0"/>
          <p:cNvSpPr/>
          <p:nvPr/>
        </p:nvSpPr>
        <p:spPr>
          <a:xfrm>
            <a:off x="5186363" y="2697100"/>
            <a:ext cx="5107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Rebase</a:t>
            </a:r>
            <a:endParaRPr lang="en-US" sz="987" dirty="0"/>
          </a:p>
        </p:txBody>
      </p:sp>
      <p:sp>
        <p:nvSpPr>
          <p:cNvPr id="44" name="Text 41"/>
          <p:cNvSpPr/>
          <p:nvPr/>
        </p:nvSpPr>
        <p:spPr>
          <a:xfrm>
            <a:off x="6143262" y="2633700"/>
            <a:ext cx="857250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 --rebase</a:t>
            </a:r>
            <a:endParaRPr lang="en-US" sz="987" dirty="0"/>
          </a:p>
        </p:txBody>
      </p:sp>
      <p:sp>
        <p:nvSpPr>
          <p:cNvPr id="45" name="Text 42"/>
          <p:cNvSpPr/>
          <p:nvPr/>
        </p:nvSpPr>
        <p:spPr>
          <a:xfrm>
            <a:off x="7165153" y="2502433"/>
            <a:ext cx="149840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Riscrive i commit locali sopra quelli remoti (cronologia lineare)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129213" y="3243597"/>
            <a:ext cx="3729038" cy="85010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44"/>
          <p:cNvSpPr/>
          <p:nvPr/>
        </p:nvSpPr>
        <p:spPr>
          <a:xfrm>
            <a:off x="5129213" y="3243597"/>
            <a:ext cx="57150" cy="850106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5243513" y="3340038"/>
            <a:ext cx="65" cy="2219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59" dirty="0"/>
          </a:p>
        </p:txBody>
      </p:sp>
      <p:sp>
        <p:nvSpPr>
          <p:cNvPr id="49" name="Text 46"/>
          <p:cNvSpPr/>
          <p:nvPr/>
        </p:nvSpPr>
        <p:spPr>
          <a:xfrm>
            <a:off x="5368528" y="3340038"/>
            <a:ext cx="65" cy="219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090" dirty="0"/>
          </a:p>
        </p:txBody>
      </p:sp>
      <p:sp>
        <p:nvSpPr>
          <p:cNvPr id="50" name="Text 47"/>
          <p:cNvSpPr/>
          <p:nvPr/>
        </p:nvSpPr>
        <p:spPr>
          <a:xfrm>
            <a:off x="5286376" y="3340038"/>
            <a:ext cx="3486150" cy="95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200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</a:t>
            </a:r>
            <a:r>
              <a:rPr lang="en-US" sz="1200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Rebase</a:t>
            </a:r>
            <a:r>
              <a:rPr lang="en-US" sz="1200" b="1" dirty="0"/>
              <a:t> 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 una cronologia più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pulita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riscrive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commit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Da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usare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attenzione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commit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sono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già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59" dirty="0" err="1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condivisi</a:t>
            </a: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9" dirty="0"/>
          </a:p>
          <a:p>
            <a:pPr>
              <a:lnSpc>
                <a:spcPts val="1900"/>
              </a:lnSpc>
            </a:pPr>
            <a:endParaRPr lang="en-US" sz="1159" dirty="0"/>
          </a:p>
        </p:txBody>
      </p:sp>
      <p:sp>
        <p:nvSpPr>
          <p:cNvPr id="51" name="Text 48"/>
          <p:cNvSpPr/>
          <p:nvPr/>
        </p:nvSpPr>
        <p:spPr>
          <a:xfrm>
            <a:off x="5243513" y="3575782"/>
            <a:ext cx="65" cy="2219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59" dirty="0"/>
          </a:p>
        </p:txBody>
      </p:sp>
      <p:sp>
        <p:nvSpPr>
          <p:cNvPr id="52" name="Text 49"/>
          <p:cNvSpPr/>
          <p:nvPr/>
        </p:nvSpPr>
        <p:spPr>
          <a:xfrm>
            <a:off x="5286375" y="3812258"/>
            <a:ext cx="3471863" cy="221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59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4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LOG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73044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log visualizza la cronologia dei commit del repository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428625" y="1559458"/>
            <a:ext cx="78012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log</a:t>
            </a:r>
            <a:endParaRPr lang="en-US" sz="1377" dirty="0"/>
          </a:p>
        </p:txBody>
      </p:sp>
      <p:sp>
        <p:nvSpPr>
          <p:cNvPr id="7" name="Text 4"/>
          <p:cNvSpPr/>
          <p:nvPr/>
        </p:nvSpPr>
        <p:spPr>
          <a:xfrm>
            <a:off x="1208745" y="1557672"/>
            <a:ext cx="26342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mostra la lista dei commit nella</a:t>
            </a:r>
            <a:endParaRPr lang="en-US" sz="1377" dirty="0"/>
          </a:p>
        </p:txBody>
      </p:sp>
      <p:sp>
        <p:nvSpPr>
          <p:cNvPr id="8" name="Text 5"/>
          <p:cNvSpPr/>
          <p:nvPr/>
        </p:nvSpPr>
        <p:spPr>
          <a:xfrm>
            <a:off x="428625" y="1856622"/>
            <a:ext cx="345757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del branch corrente, con hash,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428625" y="2153785"/>
            <a:ext cx="213240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77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autore, data e messaggio.</a:t>
            </a:r>
            <a:endParaRPr lang="en-US" sz="1377" dirty="0"/>
          </a:p>
        </p:txBody>
      </p:sp>
      <p:sp>
        <p:nvSpPr>
          <p:cNvPr id="10" name="Shape 7"/>
          <p:cNvSpPr/>
          <p:nvPr/>
        </p:nvSpPr>
        <p:spPr>
          <a:xfrm>
            <a:off x="428625" y="2643829"/>
            <a:ext cx="3600450" cy="1489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28625" y="2643829"/>
            <a:ext cx="57150" cy="1489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00075" y="2815279"/>
            <a:ext cx="32575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FORMATO PERSONALIZZATO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600075" y="3129604"/>
            <a:ext cx="3257550" cy="3464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00075" y="3129604"/>
            <a:ext cx="3257550" cy="346472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--pretty=format:"%h - %an, %ar : %s"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00075" y="3590376"/>
            <a:ext cx="3257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Output: a1b2c3d - Mario Rossi, 2 days ago : Aggiunge funzione login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314825" y="1536241"/>
            <a:ext cx="4400550" cy="302537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4314825" y="1536241"/>
            <a:ext cx="57150" cy="3025378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486275" y="1679116"/>
            <a:ext cx="53756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7593806" y="1687153"/>
            <a:ext cx="9501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Log completo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486275" y="1973796"/>
            <a:ext cx="130552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--oneline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7186613" y="1981833"/>
            <a:ext cx="13573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Un commit per riga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486275" y="2268475"/>
            <a:ext cx="1785491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--oneline --graph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6271766" y="2284549"/>
            <a:ext cx="22721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Visualizzazione grafica dei branch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486275" y="2707816"/>
            <a:ext cx="23806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--oneline --graph --all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458075" y="2715853"/>
            <a:ext cx="10858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Tutti i branch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486275" y="3002496"/>
            <a:ext cx="99833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-n 10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7322344" y="3010533"/>
            <a:ext cx="12215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Ultimi 10 commit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486275" y="3297175"/>
            <a:ext cx="176629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--author="Nome"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7254478" y="3305212"/>
            <a:ext cx="12894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Filtra per autore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486275" y="3591855"/>
            <a:ext cx="222706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--since="2 weeks ago"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7390209" y="3599892"/>
            <a:ext cx="1153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Filtra per data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486275" y="3886535"/>
            <a:ext cx="145911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-- file.txt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304359" y="3894572"/>
            <a:ext cx="22395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Cronologia di un file specifico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486275" y="4181215"/>
            <a:ext cx="76795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log -p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440091" y="4189251"/>
            <a:ext cx="2103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Mostra le diff di ogni commit</a:t>
            </a:r>
            <a:endParaRPr lang="en-US" sz="83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4786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RESET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reset annulla modifiche o sposta il puntatore del branch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428625" y="1305520"/>
            <a:ext cx="8486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reset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1277308" y="1305520"/>
            <a:ext cx="35236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un comando potente che permette di annullare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428625" y="1556975"/>
            <a:ext cx="435947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commit, rimuovere file dalla staging area o ripristinare lo stato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28625" y="1808429"/>
            <a:ext cx="26771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 repository a un punto precedente.</a:t>
            </a:r>
            <a:endParaRPr lang="en-US" sz="1159" dirty="0"/>
          </a:p>
        </p:txBody>
      </p:sp>
      <p:sp>
        <p:nvSpPr>
          <p:cNvPr id="10" name="Shape 7"/>
          <p:cNvSpPr/>
          <p:nvPr/>
        </p:nvSpPr>
        <p:spPr>
          <a:xfrm>
            <a:off x="428625" y="2184899"/>
            <a:ext cx="4400550" cy="25538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28625" y="2184899"/>
            <a:ext cx="57150" cy="2553891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71500" y="2270624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reset HEAD file.txt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2429573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Rimuove file dalla staging area (unstage)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2645671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reset --soft HEAD~1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2804620"/>
            <a:ext cx="41148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Annulla l'ultimo commit, mantiene le modifiche in staging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3165379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reset --mixed HEAD~1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71500" y="3324327"/>
            <a:ext cx="41148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Annulla l'ultimo commit, mantiene le modifiche in working tree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3685087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reset --hard HEAD~1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3844035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Annulla l'ultimo commit e SCARTA tutte le modifiche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500" y="4060134"/>
            <a:ext cx="4114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16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reset --hard origin/main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4219082"/>
            <a:ext cx="41148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# Ripristina allo stato del remote (attenzione: distruttivo)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114925" y="1287661"/>
            <a:ext cx="753666" cy="42505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5114925" y="1698427"/>
            <a:ext cx="753666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5114925" y="1287661"/>
            <a:ext cx="753666" cy="4250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MODALITÀ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5868591" y="1287661"/>
            <a:ext cx="767060" cy="42505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5868591" y="1698427"/>
            <a:ext cx="767060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868591" y="1287661"/>
            <a:ext cx="767060" cy="4250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STAGING AREA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6635651" y="1287661"/>
            <a:ext cx="785338" cy="42505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6"/>
          <p:cNvSpPr/>
          <p:nvPr/>
        </p:nvSpPr>
        <p:spPr>
          <a:xfrm>
            <a:off x="6635651" y="1698427"/>
            <a:ext cx="785338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6635651" y="1287661"/>
            <a:ext cx="785338" cy="4250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 TREE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7420989" y="1287661"/>
            <a:ext cx="1294386" cy="41790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7420989" y="1691283"/>
            <a:ext cx="1294386" cy="14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7420989" y="1287661"/>
            <a:ext cx="1294386" cy="41790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TIPICO</a:t>
            </a:r>
            <a:endParaRPr lang="en-US" sz="885" dirty="0"/>
          </a:p>
        </p:txBody>
      </p:sp>
      <p:sp>
        <p:nvSpPr>
          <p:cNvPr id="34" name="Shape 31"/>
          <p:cNvSpPr/>
          <p:nvPr/>
        </p:nvSpPr>
        <p:spPr>
          <a:xfrm>
            <a:off x="5172075" y="1869877"/>
            <a:ext cx="546497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5172075" y="1869877"/>
            <a:ext cx="546497" cy="17323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--soft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5868591" y="1705570"/>
            <a:ext cx="767060" cy="4714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Mantiene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6635651" y="1705570"/>
            <a:ext cx="785338" cy="4714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Mantiene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7420989" y="1705570"/>
            <a:ext cx="1294386" cy="4714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Rifare il messaggio di commit</a:t>
            </a:r>
            <a:endParaRPr lang="en-US" sz="942" dirty="0"/>
          </a:p>
        </p:txBody>
      </p:sp>
      <p:sp>
        <p:nvSpPr>
          <p:cNvPr id="39" name="Shape 36"/>
          <p:cNvSpPr/>
          <p:nvPr/>
        </p:nvSpPr>
        <p:spPr>
          <a:xfrm>
            <a:off x="5114925" y="2177058"/>
            <a:ext cx="3600450" cy="47863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7"/>
          <p:cNvSpPr/>
          <p:nvPr/>
        </p:nvSpPr>
        <p:spPr>
          <a:xfrm>
            <a:off x="5172075" y="2348508"/>
            <a:ext cx="623292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8"/>
          <p:cNvSpPr/>
          <p:nvPr/>
        </p:nvSpPr>
        <p:spPr>
          <a:xfrm>
            <a:off x="5172075" y="2348508"/>
            <a:ext cx="623292" cy="17323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--mixed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5868591" y="2177058"/>
            <a:ext cx="767060" cy="4786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Svuota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6635651" y="2177058"/>
            <a:ext cx="785338" cy="4786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Mantiene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7420989" y="2177058"/>
            <a:ext cx="1294386" cy="4786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Riorganizzare i file da committare</a:t>
            </a:r>
            <a:endParaRPr lang="en-US" sz="942" dirty="0"/>
          </a:p>
        </p:txBody>
      </p:sp>
      <p:sp>
        <p:nvSpPr>
          <p:cNvPr id="45" name="Shape 42"/>
          <p:cNvSpPr/>
          <p:nvPr/>
        </p:nvSpPr>
        <p:spPr>
          <a:xfrm>
            <a:off x="5172075" y="2914650"/>
            <a:ext cx="546497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3"/>
          <p:cNvSpPr/>
          <p:nvPr/>
        </p:nvSpPr>
        <p:spPr>
          <a:xfrm>
            <a:off x="5172075" y="2914650"/>
            <a:ext cx="546497" cy="17323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--hard</a:t>
            </a:r>
            <a:endParaRPr lang="en-US" sz="885" dirty="0"/>
          </a:p>
        </p:txBody>
      </p:sp>
      <p:sp>
        <p:nvSpPr>
          <p:cNvPr id="47" name="Text 44"/>
          <p:cNvSpPr/>
          <p:nvPr/>
        </p:nvSpPr>
        <p:spPr>
          <a:xfrm>
            <a:off x="5868591" y="2655689"/>
            <a:ext cx="767060" cy="6536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Svuota</a:t>
            </a:r>
            <a:endParaRPr lang="en-US" sz="942" dirty="0"/>
          </a:p>
        </p:txBody>
      </p:sp>
      <p:sp>
        <p:nvSpPr>
          <p:cNvPr id="48" name="Text 45"/>
          <p:cNvSpPr/>
          <p:nvPr/>
        </p:nvSpPr>
        <p:spPr>
          <a:xfrm>
            <a:off x="6692801" y="2895005"/>
            <a:ext cx="4054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Scarta</a:t>
            </a:r>
            <a:endParaRPr lang="en-US" sz="885" dirty="0"/>
          </a:p>
        </p:txBody>
      </p:sp>
      <p:sp>
        <p:nvSpPr>
          <p:cNvPr id="49" name="Text 46"/>
          <p:cNvSpPr/>
          <p:nvPr/>
        </p:nvSpPr>
        <p:spPr>
          <a:xfrm>
            <a:off x="7420989" y="2655689"/>
            <a:ext cx="1294386" cy="6536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Tornare a uno stato precedente pulito</a:t>
            </a:r>
            <a:endParaRPr lang="en-US" sz="942" dirty="0"/>
          </a:p>
        </p:txBody>
      </p:sp>
      <p:sp>
        <p:nvSpPr>
          <p:cNvPr id="50" name="Shape 47"/>
          <p:cNvSpPr/>
          <p:nvPr/>
        </p:nvSpPr>
        <p:spPr>
          <a:xfrm>
            <a:off x="5114925" y="4113740"/>
            <a:ext cx="3600450" cy="1029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48"/>
          <p:cNvSpPr/>
          <p:nvPr/>
        </p:nvSpPr>
        <p:spPr>
          <a:xfrm>
            <a:off x="5114925" y="4113740"/>
            <a:ext cx="57150" cy="10297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513" y="4242327"/>
            <a:ext cx="171450" cy="17145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5486400" y="4199465"/>
            <a:ext cx="10322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ATTENZIONE</a:t>
            </a:r>
            <a:endParaRPr lang="en-US" sz="1193" dirty="0"/>
          </a:p>
        </p:txBody>
      </p:sp>
      <p:sp>
        <p:nvSpPr>
          <p:cNvPr id="54" name="Shape 50"/>
          <p:cNvSpPr/>
          <p:nvPr/>
        </p:nvSpPr>
        <p:spPr>
          <a:xfrm>
            <a:off x="5243513" y="4590585"/>
            <a:ext cx="625078" cy="176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1"/>
          <p:cNvSpPr/>
          <p:nvPr/>
        </p:nvSpPr>
        <p:spPr>
          <a:xfrm>
            <a:off x="5257800" y="4533798"/>
            <a:ext cx="625078" cy="176808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--hard</a:t>
            </a:r>
            <a:endParaRPr lang="en-US" sz="1090" dirty="0"/>
          </a:p>
        </p:txBody>
      </p:sp>
      <p:sp>
        <p:nvSpPr>
          <p:cNvPr id="56" name="Text 52"/>
          <p:cNvSpPr/>
          <p:nvPr/>
        </p:nvSpPr>
        <p:spPr>
          <a:xfrm>
            <a:off x="5868591" y="4545936"/>
            <a:ext cx="24878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irreversibile per le modifiche non</a:t>
            </a:r>
            <a:endParaRPr lang="en-US" sz="1159" dirty="0"/>
          </a:p>
        </p:txBody>
      </p:sp>
      <p:sp>
        <p:nvSpPr>
          <p:cNvPr id="57" name="Text 53"/>
          <p:cNvSpPr/>
          <p:nvPr/>
        </p:nvSpPr>
        <p:spPr>
          <a:xfrm>
            <a:off x="5243513" y="4824180"/>
            <a:ext cx="8447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111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committate.</a:t>
            </a:r>
            <a:endParaRPr lang="en-US" sz="1159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4786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28675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FFD1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RIEPILOGO DEI COMANDI PRINCIPALI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659011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Mappa del flusso di lavoro quotidiano in Git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285750" y="1487686"/>
            <a:ext cx="1393031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285750" y="1487686"/>
            <a:ext cx="1393031" cy="857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84" y="1630561"/>
            <a:ext cx="385763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601" y="2116336"/>
            <a:ext cx="92333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
DIRECTORY</a:t>
            </a:r>
            <a:endParaRPr lang="en-US" sz="1193" dirty="0"/>
          </a:p>
        </p:txBody>
      </p:sp>
      <p:sp>
        <p:nvSpPr>
          <p:cNvPr id="10" name="Shape 6"/>
          <p:cNvSpPr/>
          <p:nvPr/>
        </p:nvSpPr>
        <p:spPr>
          <a:xfrm>
            <a:off x="1881485" y="2286000"/>
            <a:ext cx="594717" cy="1446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881485" y="2286000"/>
            <a:ext cx="594717" cy="14466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add</a:t>
            </a:r>
            <a:endParaRPr lang="en-US" sz="885" dirty="0"/>
          </a:p>
        </p:txBody>
      </p:sp>
      <p:sp>
        <p:nvSpPr>
          <p:cNvPr id="12" name="Shape 8"/>
          <p:cNvSpPr/>
          <p:nvPr/>
        </p:nvSpPr>
        <p:spPr>
          <a:xfrm>
            <a:off x="1678781" y="2459236"/>
            <a:ext cx="1000125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1689497" y="2773561"/>
            <a:ext cx="978694" cy="1446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1689497" y="2773561"/>
            <a:ext cx="978694" cy="14466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checkout</a:t>
            </a:r>
            <a:endParaRPr lang="en-US" sz="885" dirty="0"/>
          </a:p>
        </p:txBody>
      </p:sp>
      <p:sp>
        <p:nvSpPr>
          <p:cNvPr id="15" name="Shape 11"/>
          <p:cNvSpPr/>
          <p:nvPr/>
        </p:nvSpPr>
        <p:spPr>
          <a:xfrm>
            <a:off x="1678781" y="2946797"/>
            <a:ext cx="1000125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2678906" y="1487686"/>
            <a:ext cx="1393031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2678906" y="1487686"/>
            <a:ext cx="1393031" cy="857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972" y="1630561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13770" y="2116336"/>
            <a:ext cx="72330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STAGING
AREA
(INDEX)</a:t>
            </a:r>
            <a:endParaRPr lang="en-US" sz="1193" dirty="0"/>
          </a:p>
        </p:txBody>
      </p:sp>
      <p:sp>
        <p:nvSpPr>
          <p:cNvPr id="20" name="Shape 15"/>
          <p:cNvSpPr/>
          <p:nvPr/>
        </p:nvSpPr>
        <p:spPr>
          <a:xfrm>
            <a:off x="4159448" y="2286000"/>
            <a:ext cx="825103" cy="1446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4159448" y="2286000"/>
            <a:ext cx="825103" cy="14466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commit</a:t>
            </a:r>
            <a:endParaRPr lang="en-US" sz="885" dirty="0"/>
          </a:p>
        </p:txBody>
      </p:sp>
      <p:sp>
        <p:nvSpPr>
          <p:cNvPr id="22" name="Shape 17"/>
          <p:cNvSpPr/>
          <p:nvPr/>
        </p:nvSpPr>
        <p:spPr>
          <a:xfrm>
            <a:off x="4071938" y="2459236"/>
            <a:ext cx="1000125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4197846" y="2773561"/>
            <a:ext cx="748308" cy="1446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4197846" y="2773561"/>
            <a:ext cx="748308" cy="14466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reset</a:t>
            </a:r>
            <a:endParaRPr lang="en-US" sz="885" dirty="0"/>
          </a:p>
        </p:txBody>
      </p:sp>
      <p:sp>
        <p:nvSpPr>
          <p:cNvPr id="25" name="Shape 20"/>
          <p:cNvSpPr/>
          <p:nvPr/>
        </p:nvSpPr>
        <p:spPr>
          <a:xfrm>
            <a:off x="4071938" y="2946797"/>
            <a:ext cx="1000125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5072063" y="1487686"/>
            <a:ext cx="1393031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5072063" y="1487686"/>
            <a:ext cx="1393031" cy="857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7128" y="1630561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49763" y="2116336"/>
            <a:ext cx="103763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
REPOSITORY</a:t>
            </a:r>
            <a:endParaRPr lang="en-US" sz="1193" dirty="0"/>
          </a:p>
        </p:txBody>
      </p:sp>
      <p:sp>
        <p:nvSpPr>
          <p:cNvPr id="30" name="Shape 24"/>
          <p:cNvSpPr/>
          <p:nvPr/>
        </p:nvSpPr>
        <p:spPr>
          <a:xfrm>
            <a:off x="6629400" y="2286000"/>
            <a:ext cx="671513" cy="1446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5"/>
          <p:cNvSpPr/>
          <p:nvPr/>
        </p:nvSpPr>
        <p:spPr>
          <a:xfrm>
            <a:off x="6629400" y="2286000"/>
            <a:ext cx="671513" cy="14466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2BC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push</a:t>
            </a:r>
            <a:endParaRPr lang="en-US" sz="885" dirty="0"/>
          </a:p>
        </p:txBody>
      </p:sp>
      <p:sp>
        <p:nvSpPr>
          <p:cNvPr id="32" name="Shape 26"/>
          <p:cNvSpPr/>
          <p:nvPr/>
        </p:nvSpPr>
        <p:spPr>
          <a:xfrm>
            <a:off x="6465094" y="2459236"/>
            <a:ext cx="1000125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6591002" y="2773561"/>
            <a:ext cx="748308" cy="1446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28"/>
          <p:cNvSpPr/>
          <p:nvPr/>
        </p:nvSpPr>
        <p:spPr>
          <a:xfrm>
            <a:off x="6591002" y="2773561"/>
            <a:ext cx="748308" cy="144661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fetch</a:t>
            </a:r>
            <a:endParaRPr lang="en-US" sz="885" dirty="0"/>
          </a:p>
        </p:txBody>
      </p:sp>
      <p:sp>
        <p:nvSpPr>
          <p:cNvPr id="35" name="Shape 29"/>
          <p:cNvSpPr/>
          <p:nvPr/>
        </p:nvSpPr>
        <p:spPr>
          <a:xfrm>
            <a:off x="6465094" y="2946797"/>
            <a:ext cx="1000125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0"/>
          <p:cNvSpPr/>
          <p:nvPr/>
        </p:nvSpPr>
        <p:spPr>
          <a:xfrm>
            <a:off x="7465219" y="1487686"/>
            <a:ext cx="1393031" cy="2286000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31"/>
          <p:cNvSpPr/>
          <p:nvPr/>
        </p:nvSpPr>
        <p:spPr>
          <a:xfrm>
            <a:off x="7465219" y="1487686"/>
            <a:ext cx="1393031" cy="85725"/>
          </a:xfrm>
          <a:prstGeom prst="rect">
            <a:avLst/>
          </a:prstGeom>
          <a:solidFill>
            <a:srgbClr val="192BC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422" y="1630561"/>
            <a:ext cx="428625" cy="3429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642920" y="2116336"/>
            <a:ext cx="103763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
REPOSITORY</a:t>
            </a:r>
            <a:endParaRPr lang="en-US" sz="1193" dirty="0"/>
          </a:p>
        </p:txBody>
      </p:sp>
      <p:sp>
        <p:nvSpPr>
          <p:cNvPr id="40" name="Shape 33"/>
          <p:cNvSpPr/>
          <p:nvPr/>
        </p:nvSpPr>
        <p:spPr>
          <a:xfrm>
            <a:off x="1143000" y="3987998"/>
            <a:ext cx="6858000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4"/>
          <p:cNvSpPr/>
          <p:nvPr/>
        </p:nvSpPr>
        <p:spPr>
          <a:xfrm>
            <a:off x="3471863" y="3902273"/>
            <a:ext cx="2200275" cy="114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35"/>
          <p:cNvSpPr/>
          <p:nvPr/>
        </p:nvSpPr>
        <p:spPr>
          <a:xfrm>
            <a:off x="3471863" y="3902273"/>
            <a:ext cx="2200275" cy="114300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git pull (fetch + merge)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2910</Words>
  <Application>Microsoft Office PowerPoint</Application>
  <PresentationFormat>Presentazione su schermo (16:9)</PresentationFormat>
  <Paragraphs>459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9" baseType="lpstr">
      <vt:lpstr>Aptos</vt:lpstr>
      <vt:lpstr>Arial</vt:lpstr>
      <vt:lpstr>Courier Prime</vt:lpstr>
      <vt:lpstr>monospace</vt:lpstr>
      <vt:lpstr>Open Sans</vt:lpstr>
      <vt:lpstr>Roboto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Grillo</cp:lastModifiedBy>
  <cp:revision>3</cp:revision>
  <dcterms:created xsi:type="dcterms:W3CDTF">2026-04-13T22:21:40Z</dcterms:created>
  <dcterms:modified xsi:type="dcterms:W3CDTF">2026-09-16T22:12:51Z</dcterms:modified>
</cp:coreProperties>
</file>